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c0a6b76c9d4a77" /><Relationship Type="http://schemas.openxmlformats.org/officeDocument/2006/relationships/extended-properties" Target="/docProps/app.xml" Id="R33687fc45758425a" /><Relationship Type="http://schemas.openxmlformats.org/officeDocument/2006/relationships/officeDocument" Target="/ppt/presentation.xml" Id="R03fc8f0c153142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e76702f7cc4c48"/>
  </p:sldMasterIdLst>
  <p:notesMasterIdLst>
    <p:notesMasterId xmlns:r="http://schemas.openxmlformats.org/officeDocument/2006/relationships" r:id="R46631618ec0045fe"/>
  </p:notesMasterIdLst>
  <p:sldIdLst>
    <p:sldId xmlns:r="http://schemas.openxmlformats.org/officeDocument/2006/relationships" id="256" r:id="R4f0b577dc8a24024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9251222d344581" /><Relationship Type="http://schemas.openxmlformats.org/officeDocument/2006/relationships/slideMaster" Target="/ppt/slideMasters/slideMaster1.xml" Id="R0fe76702f7cc4c48" /><Relationship Type="http://schemas.openxmlformats.org/officeDocument/2006/relationships/notesMaster" Target="/ppt/notesMasters/notesMaster1.xml" Id="R46631618ec0045fe" /><Relationship Type="http://schemas.openxmlformats.org/officeDocument/2006/relationships/presProps" Target="/ppt/presProps.xml" Id="R00fa40e92bff45ad" /><Relationship Type="http://schemas.openxmlformats.org/officeDocument/2006/relationships/tableStyles" Target="/ppt/tableStyles.xml" Id="R51b60f8e65eb402b" /><Relationship Type="http://schemas.openxmlformats.org/officeDocument/2006/relationships/slide" Target="/ppt/slides/slide1.xml" Id="R4f0b577dc8a240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73d77f1f80a4c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019b74934b4ffc" /><Relationship Type="http://schemas.openxmlformats.org/officeDocument/2006/relationships/notesMaster" Target="/ppt/notesMasters/notesMaster1.xml" Id="Race9e571c66146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the user-supplied project status diagram, reproduced in docs/assets/a2ui_system_architecture/06_genui_craft_lm_project_status.png.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Statuses and dataset counts reflect the supplied status snapshot. They are not a new repository audit or a claim that every export variant has completed device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f9aed821944f2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550e8dbaa34d99" /><Relationship Type="http://schemas.openxmlformats.org/officeDocument/2006/relationships/slideLayout" Target="/ppt/slideLayouts/slideLayout1.xml" Id="R78d011f8d8524a0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d011f8d8524a0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1fef93da384e92" /><Relationship Type="http://schemas.openxmlformats.org/officeDocument/2006/relationships/notesSlide" Target="/ppt/notesSlides/notesSlide1.xml" Id="R5c2a41978aea43d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D1B71E5-45B4-4C8A-B9FB-FC5382F70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7068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5700" b="1">
                <a:solidFill>
                  <a:srgbClr val="08224A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08224A"/>
                </a:solidFill>
                <a:latin typeface="Arial"/>
                <a:ea typeface="Arial"/>
                <a:cs typeface="Arial"/>
              </a:rPr>
              <a:t>GenUI Craft LM Project Status</a:t>
            </a:r>
          </a:p>
        </p:txBody>
      </p:sp>
      <p:sp>
        <p:nvSpPr>
          <p:cNvPr id="2" name="completed">
            <a:extLst xmlns:a="http://schemas.openxmlformats.org/drawingml/2006/main">
              <a:ext uri="{FF2B5EF4-FFF2-40B4-BE49-F238E27FC236}">
                <a16:creationId xmlns:a16="http://schemas.microsoft.com/office/drawing/2014/main" id="{A92693D7-BF29-41A1-A6D0-3D2C49CB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087B6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87B62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3" name="in-progress">
            <a:extLst xmlns:a="http://schemas.openxmlformats.org/drawingml/2006/main">
              <a:ext uri="{FF2B5EF4-FFF2-40B4-BE49-F238E27FC236}">
                <a16:creationId xmlns:a16="http://schemas.microsoft.com/office/drawing/2014/main" id="{C63BC1EA-7031-4288-9BFC-2FB14538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543050"/>
            <a:ext cx="6343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460D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60DB"/>
                </a:solidFill>
                <a:latin typeface="Arial"/>
                <a:ea typeface="Arial"/>
                <a:cs typeface="Arial"/>
              </a:rPr>
              <a:t>IN PROGRESS</a:t>
            </a:r>
          </a:p>
        </p:txBody>
      </p:sp>
      <p:sp>
        <p:nvSpPr>
          <p:cNvPr id="4" name="completed-accent">
            <a:extLst xmlns:a="http://schemas.openxmlformats.org/drawingml/2006/main">
              <a:ext uri="{FF2B5EF4-FFF2-40B4-BE49-F238E27FC236}">
                <a16:creationId xmlns:a16="http://schemas.microsoft.com/office/drawing/2014/main" id="{E47F0FE9-40F8-4D0F-919B-CB29011F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B62"/>
            </a:solidFill>
            <a:prstDash val="solid"/>
          </a:ln>
        </p:spPr>
      </p:sp>
      <p:sp>
        <p:nvSpPr>
          <p:cNvPr id="5" name="progress-accent">
            <a:extLst xmlns:a="http://schemas.openxmlformats.org/drawingml/2006/main">
              <a:ext uri="{FF2B5EF4-FFF2-40B4-BE49-F238E27FC236}">
                <a16:creationId xmlns:a16="http://schemas.microsoft.com/office/drawing/2014/main" id="{0F545191-82C8-452F-8923-4FB8AA0F0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09800"/>
            <a:ext cx="6343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60DB"/>
            </a:solidFill>
            <a:prstDash val="solid"/>
          </a:ln>
        </p:spPr>
      </p:sp>
      <p:sp>
        <p:nvSpPr>
          <p:cNvPr id="6" name="column-divider">
            <a:extLst xmlns:a="http://schemas.openxmlformats.org/drawingml/2006/main">
              <a:ext uri="{FF2B5EF4-FFF2-40B4-BE49-F238E27FC236}">
                <a16:creationId xmlns:a16="http://schemas.microsoft.com/office/drawing/2014/main" id="{B226FE4F-F338-47EA-8159-79D636E40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1543050"/>
            <a:ext cx="0" cy="8353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DE8"/>
            </a:solidFill>
            <a:prstDash val="solid"/>
          </a:ln>
        </p:spPr>
      </p:sp>
      <p:sp>
        <p:nvSpPr>
          <p:cNvPr id="7" name="architecture-heading">
            <a:extLst xmlns:a="http://schemas.openxmlformats.org/drawingml/2006/main">
              <a:ext uri="{FF2B5EF4-FFF2-40B4-BE49-F238E27FC236}">
                <a16:creationId xmlns:a16="http://schemas.microsoft.com/office/drawing/2014/main" id="{686AD974-E0D2-4910-AF9F-FC9FAA93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05075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08224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8224A"/>
                </a:solidFill>
                <a:latin typeface="Arial"/>
                <a:ea typeface="Arial"/>
                <a:cs typeface="Arial"/>
              </a:rPr>
              <a:t>Architecture &amp; Data</a:t>
            </a:r>
          </a:p>
        </p:txBody>
      </p:sp>
      <p:sp>
        <p:nvSpPr>
          <p:cNvPr id="8" name="architecture-items">
            <a:extLst xmlns:a="http://schemas.openxmlformats.org/drawingml/2006/main">
              <a:ext uri="{FF2B5EF4-FFF2-40B4-BE49-F238E27FC236}">
                <a16:creationId xmlns:a16="http://schemas.microsoft.com/office/drawing/2014/main" id="{84D0B2A7-C2EB-4246-870F-C4C21FC8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9906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39700" algn="l">
              <a:spcAft>
                <a:spcPts val="900"/>
              </a:spcAft>
              <a:buChar char="•"/>
              <a:defRPr sz="2100" b="0">
                <a:solidFill>
                  <a:srgbClr val="08224A"/>
                </a:solidFill>
                <a:latin typeface="Arial"/>
                <a:ea typeface="Arial"/>
                <a:cs typeface="Arial"/>
              </a:defRPr>
            </a:pPr>
            <a:r>
              <a:t>Architecture and IR specification finalized</a:t>
            </a:r>
          </a:p>
          <a:p xmlns:a="http://schemas.openxmlformats.org/drawingml/2006/main">
            <a:pPr marL="228600" indent="-139700" algn="l">
              <a:spcAft>
                <a:spcPts val="900"/>
              </a:spcAft>
              <a:buChar char="•"/>
              <a:defRPr sz="2100" b="0">
                <a:solidFill>
                  <a:srgbClr val="08224A"/>
                </a:solidFill>
                <a:latin typeface="Arial"/>
                <a:ea typeface="Arial"/>
                <a:cs typeface="Arial"/>
              </a:defRPr>
            </a:pPr>
            <a:r>
              <a:t>Data-generation pipeline with quality checks and shared A2UI Express parsing / validation</a:t>
            </a:r>
          </a:p>
          <a:p xmlns:a="http://schemas.openxmlformats.org/drawingml/2006/main">
            <a:pPr marL="228600" indent="-139700" algn="l">
              <a:spcAft>
                <a:spcPts val="900"/>
              </a:spcAft>
              <a:buChar char="•"/>
              <a:defRPr sz="2100" b="0">
                <a:solidFill>
                  <a:srgbClr val="08224A"/>
                </a:solidFill>
                <a:latin typeface="Arial"/>
                <a:ea typeface="Arial"/>
                <a:cs typeface="Arial"/>
              </a:defRPr>
            </a:pPr>
            <a:r>
              <a:t>500K IR dataset audited and filtered</a:t>
            </a:r>
          </a:p>
        </p:txBody>
      </p:sp>
      <p:sp>
        <p:nvSpPr>
          <p:cNvPr id="9" name="retained-sample-count">
            <a:extLst xmlns:a="http://schemas.openxmlformats.org/drawingml/2006/main">
              <a:ext uri="{FF2B5EF4-FFF2-40B4-BE49-F238E27FC236}">
                <a16:creationId xmlns:a16="http://schemas.microsoft.com/office/drawing/2014/main" id="{05C87757-8BF3-4C41-9919-A3C7C6C20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967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087B6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B62"/>
                </a:solidFill>
                <a:latin typeface="Arial"/>
                <a:ea typeface="Arial"/>
                <a:cs typeface="Arial"/>
              </a:rPr>
              <a:t>112,842 training + 2,300 validation</a:t>
            </a:r>
          </a:p>
        </p:txBody>
      </p:sp>
      <p:sp>
        <p:nvSpPr>
          <p:cNvPr id="10" name="decontamination-caption">
            <a:extLst xmlns:a="http://schemas.openxmlformats.org/drawingml/2006/main">
              <a:ext uri="{FF2B5EF4-FFF2-40B4-BE49-F238E27FC236}">
                <a16:creationId xmlns:a16="http://schemas.microsoft.com/office/drawing/2014/main" id="{C77A19D6-FA10-47C8-ABAC-2BFBF2EE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67300"/>
            <a:ext cx="9677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465B7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65B74"/>
                </a:solidFill>
                <a:latin typeface="Arial"/>
                <a:ea typeface="Arial"/>
                <a:cs typeface="Arial"/>
              </a:rPr>
              <a:t>Samples retained after decontamination</a:t>
            </a:r>
          </a:p>
        </p:txBody>
      </p:sp>
      <p:sp>
        <p:nvSpPr>
          <p:cNvPr id="11" name="model-quality-heading">
            <a:extLst xmlns:a="http://schemas.openxmlformats.org/drawingml/2006/main">
              <a:ext uri="{FF2B5EF4-FFF2-40B4-BE49-F238E27FC236}">
                <a16:creationId xmlns:a16="http://schemas.microsoft.com/office/drawing/2014/main" id="{652FF03B-A5D4-408F-BEA4-6F20BB28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505075"/>
            <a:ext cx="634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08224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8224A"/>
                </a:solidFill>
                <a:latin typeface="Arial"/>
                <a:ea typeface="Arial"/>
                <a:cs typeface="Arial"/>
              </a:rPr>
              <a:t>Model Quality</a:t>
            </a:r>
          </a:p>
        </p:txBody>
      </p:sp>
      <p:sp>
        <p:nvSpPr>
          <p:cNvPr id="12" name="model-quality-items">
            <a:extLst xmlns:a="http://schemas.openxmlformats.org/drawingml/2006/main">
              <a:ext uri="{FF2B5EF4-FFF2-40B4-BE49-F238E27FC236}">
                <a16:creationId xmlns:a16="http://schemas.microsoft.com/office/drawing/2014/main" id="{DD2D84FA-B1D1-4509-A093-423BF8B4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057525"/>
            <a:ext cx="63436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39700" algn="l">
              <a:spcAft>
                <a:spcPts val="1600"/>
              </a:spcAft>
              <a:buChar char="•"/>
              <a:defRPr sz="2100" b="0">
                <a:solidFill>
                  <a:srgbClr val="08224A"/>
                </a:solidFill>
                <a:latin typeface="Arial"/>
                <a:ea typeface="Arial"/>
                <a:cs typeface="Arial"/>
              </a:defRPr>
            </a:pPr>
            <a:r>
              <a:t>Dataset improvement</a:t>
            </a:r>
          </a:p>
          <a:p xmlns:a="http://schemas.openxmlformats.org/drawingml/2006/main">
            <a:pPr marL="228600" indent="-139700" algn="l">
              <a:spcAft>
                <a:spcPts val="1600"/>
              </a:spcAft>
              <a:buChar char="•"/>
              <a:defRPr sz="2100" b="0">
                <a:solidFill>
                  <a:srgbClr val="08224A"/>
                </a:solidFill>
                <a:latin typeface="Arial"/>
                <a:ea typeface="Arial"/>
                <a:cs typeface="Arial"/>
              </a:defRPr>
            </a:pPr>
            <a:r>
              <a:t>Fine-tuning</a:t>
            </a:r>
          </a:p>
          <a:p xmlns:a="http://schemas.openxmlformats.org/drawingml/2006/main">
            <a:pPr marL="228600" indent="-139700" algn="l">
              <a:spcAft>
                <a:spcPts val="1600"/>
              </a:spcAft>
              <a:buChar char="•"/>
              <a:defRPr sz="2100" b="0">
                <a:solidFill>
                  <a:srgbClr val="08224A"/>
                </a:solidFill>
                <a:latin typeface="Arial"/>
                <a:ea typeface="Arial"/>
                <a:cs typeface="Arial"/>
              </a:defRPr>
            </a:pPr>
            <a:r>
              <a:t>Knowledge distillation</a:t>
            </a:r>
          </a:p>
        </p:txBody>
      </p:sp>
      <p:sp>
        <p:nvSpPr>
          <p:cNvPr id="13" name="completed-row-divider-1">
            <a:extLst xmlns:a="http://schemas.openxmlformats.org/drawingml/2006/main">
              <a:ext uri="{FF2B5EF4-FFF2-40B4-BE49-F238E27FC236}">
                <a16:creationId xmlns:a16="http://schemas.microsoft.com/office/drawing/2014/main" id="{EFBF9CB5-C16B-4949-9C18-9C4DBB46D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5307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DE8"/>
            </a:solidFill>
            <a:prstDash val="solid"/>
          </a:ln>
        </p:spPr>
      </p:sp>
      <p:sp>
        <p:nvSpPr>
          <p:cNvPr id="14" name="progress-row-divider-1">
            <a:extLst xmlns:a="http://schemas.openxmlformats.org/drawingml/2006/main">
              <a:ext uri="{FF2B5EF4-FFF2-40B4-BE49-F238E27FC236}">
                <a16:creationId xmlns:a16="http://schemas.microsoft.com/office/drawing/2014/main" id="{E713A34A-C1FC-46F9-A26A-DC58F382F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553075"/>
            <a:ext cx="6343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DE8"/>
            </a:solidFill>
            <a:prstDash val="solid"/>
          </a:ln>
        </p:spPr>
      </p:sp>
      <p:sp>
        <p:nvSpPr>
          <p:cNvPr id="15" name="modeling-heading">
            <a:extLst xmlns:a="http://schemas.openxmlformats.org/drawingml/2006/main">
              <a:ext uri="{FF2B5EF4-FFF2-40B4-BE49-F238E27FC236}">
                <a16:creationId xmlns:a16="http://schemas.microsoft.com/office/drawing/2014/main" id="{200FF962-957A-4C7F-8CBA-69E26C9E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08224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8224A"/>
                </a:solidFill>
                <a:latin typeface="Arial"/>
                <a:ea typeface="Arial"/>
                <a:cs typeface="Arial"/>
              </a:rPr>
              <a:t>Modeling &amp; Training</a:t>
            </a:r>
          </a:p>
        </p:txBody>
      </p:sp>
      <p:sp>
        <p:nvSpPr>
          <p:cNvPr id="16" name="modeling-items">
            <a:extLst xmlns:a="http://schemas.openxmlformats.org/drawingml/2006/main">
              <a:ext uri="{FF2B5EF4-FFF2-40B4-BE49-F238E27FC236}">
                <a16:creationId xmlns:a16="http://schemas.microsoft.com/office/drawing/2014/main" id="{5B3281A2-0192-44D4-B0CC-08384F45C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906000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39700" algn="l">
              <a:spcAft>
                <a:spcPts val="800"/>
              </a:spcAft>
              <a:buChar char="•"/>
              <a:defRPr sz="2100" b="0">
                <a:solidFill>
                  <a:srgbClr val="08224A"/>
                </a:solidFill>
                <a:latin typeface="Arial"/>
                <a:ea typeface="Arial"/>
                <a:cs typeface="Arial"/>
              </a:defRPr>
            </a:pPr>
            <a:r>
              <a:t>Cloud 31B baseline selected and compact models evaluated</a:t>
            </a:r>
          </a:p>
          <a:p xmlns:a="http://schemas.openxmlformats.org/drawingml/2006/main">
            <a:pPr marL="228600" indent="-139700" algn="l">
              <a:spcAft>
                <a:spcPts val="800"/>
              </a:spcAft>
              <a:buChar char="•"/>
              <a:defRPr sz="2100" b="0">
                <a:solidFill>
                  <a:srgbClr val="08224A"/>
                </a:solidFill>
                <a:latin typeface="Arial"/>
                <a:ea typeface="Arial"/>
                <a:cs typeface="Arial"/>
              </a:defRPr>
            </a:pPr>
            <a:r>
              <a:t>Gemma E2B and 270M trained</a:t>
            </a:r>
          </a:p>
          <a:p xmlns:a="http://schemas.openxmlformats.org/drawingml/2006/main">
            <a:pPr marL="228600" indent="-139700" algn="l">
              <a:spcAft>
                <a:spcPts val="800"/>
              </a:spcAft>
              <a:buChar char="•"/>
              <a:defRPr sz="2100" b="0">
                <a:solidFill>
                  <a:srgbClr val="08224A"/>
                </a:solidFill>
                <a:latin typeface="Arial"/>
                <a:ea typeface="Arial"/>
                <a:cs typeface="Arial"/>
              </a:defRPr>
            </a:pPr>
            <a:r>
              <a:t>2 / 4 / 8 GPU training with caching, augmentation and sequential hyperparameter tuning</a:t>
            </a:r>
          </a:p>
        </p:txBody>
      </p:sp>
      <p:sp>
        <p:nvSpPr>
          <p:cNvPr id="17" name="performance-heading">
            <a:extLst xmlns:a="http://schemas.openxmlformats.org/drawingml/2006/main">
              <a:ext uri="{FF2B5EF4-FFF2-40B4-BE49-F238E27FC236}">
                <a16:creationId xmlns:a16="http://schemas.microsoft.com/office/drawing/2014/main" id="{F15DF771-A67C-491A-97B2-564E517A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791200"/>
            <a:ext cx="634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08224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8224A"/>
                </a:solidFill>
                <a:latin typeface="Arial"/>
                <a:ea typeface="Arial"/>
                <a:cs typeface="Arial"/>
              </a:rPr>
              <a:t>Performance &amp; Optimization</a:t>
            </a:r>
          </a:p>
        </p:txBody>
      </p:sp>
      <p:sp>
        <p:nvSpPr>
          <p:cNvPr id="18" name="performance-items">
            <a:extLst xmlns:a="http://schemas.openxmlformats.org/drawingml/2006/main">
              <a:ext uri="{FF2B5EF4-FFF2-40B4-BE49-F238E27FC236}">
                <a16:creationId xmlns:a16="http://schemas.microsoft.com/office/drawing/2014/main" id="{3F7BD426-0925-4729-8004-46B437060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6343650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39700" algn="l">
              <a:spcAft>
                <a:spcPts val="800"/>
              </a:spcAft>
              <a:buChar char="•"/>
              <a:defRPr sz="2100" b="0">
                <a:solidFill>
                  <a:srgbClr val="08224A"/>
                </a:solidFill>
                <a:latin typeface="Arial"/>
                <a:ea typeface="Arial"/>
                <a:cs typeface="Arial"/>
              </a:defRPr>
            </a:pPr>
            <a:r>
              <a:t>Model KPI improvement</a:t>
            </a:r>
          </a:p>
          <a:p xmlns:a="http://schemas.openxmlformats.org/drawingml/2006/main">
            <a:pPr marL="228600" indent="-139700" algn="l">
              <a:spcAft>
                <a:spcPts val="800"/>
              </a:spcAft>
              <a:buChar char="•"/>
              <a:defRPr sz="2100" b="0">
                <a:solidFill>
                  <a:srgbClr val="08224A"/>
                </a:solidFill>
                <a:latin typeface="Arial"/>
                <a:ea typeface="Arial"/>
                <a:cs typeface="Arial"/>
              </a:defRPr>
            </a:pPr>
            <a:r>
              <a:t>4-bit / 8-bit quantization performance</a:t>
            </a:r>
          </a:p>
          <a:p xmlns:a="http://schemas.openxmlformats.org/drawingml/2006/main">
            <a:pPr marL="228600" indent="-139700" algn="l">
              <a:spcAft>
                <a:spcPts val="800"/>
              </a:spcAft>
              <a:buChar char="•"/>
              <a:defRPr sz="2100" b="0">
                <a:solidFill>
                  <a:srgbClr val="08224A"/>
                </a:solidFill>
                <a:latin typeface="Arial"/>
                <a:ea typeface="Arial"/>
                <a:cs typeface="Arial"/>
              </a:defRPr>
            </a:pPr>
            <a:r>
              <a:t>Overall latency reduction</a:t>
            </a:r>
          </a:p>
        </p:txBody>
      </p:sp>
      <p:sp>
        <p:nvSpPr>
          <p:cNvPr id="19" name="completed-row-divider-2">
            <a:extLst xmlns:a="http://schemas.openxmlformats.org/drawingml/2006/main">
              <a:ext uri="{FF2B5EF4-FFF2-40B4-BE49-F238E27FC236}">
                <a16:creationId xmlns:a16="http://schemas.microsoft.com/office/drawing/2014/main" id="{53AE87F8-F86E-4C0D-92D4-D182E11C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DE8"/>
            </a:solidFill>
            <a:prstDash val="solid"/>
          </a:ln>
        </p:spPr>
      </p:sp>
      <p:sp>
        <p:nvSpPr>
          <p:cNvPr id="20" name="progress-row-divider-2">
            <a:extLst xmlns:a="http://schemas.openxmlformats.org/drawingml/2006/main">
              <a:ext uri="{FF2B5EF4-FFF2-40B4-BE49-F238E27FC236}">
                <a16:creationId xmlns:a16="http://schemas.microsoft.com/office/drawing/2014/main" id="{971FB1BD-A7A5-439D-BC01-DFA423B84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8001000"/>
            <a:ext cx="6343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DE8"/>
            </a:solidFill>
            <a:prstDash val="solid"/>
          </a:ln>
        </p:spPr>
      </p:sp>
      <p:sp>
        <p:nvSpPr>
          <p:cNvPr id="21" name="device-heading">
            <a:extLst xmlns:a="http://schemas.openxmlformats.org/drawingml/2006/main">
              <a:ext uri="{FF2B5EF4-FFF2-40B4-BE49-F238E27FC236}">
                <a16:creationId xmlns:a16="http://schemas.microsoft.com/office/drawing/2014/main" id="{7444BB20-7981-42B5-8EA3-656E507D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39125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08224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8224A"/>
                </a:solidFill>
                <a:latin typeface="Arial"/>
                <a:ea typeface="Arial"/>
                <a:cs typeface="Arial"/>
              </a:rPr>
              <a:t>On-Device Infrastructure</a:t>
            </a:r>
          </a:p>
        </p:txBody>
      </p:sp>
      <p:sp>
        <p:nvSpPr>
          <p:cNvPr id="22" name="device-items">
            <a:extLst xmlns:a="http://schemas.openxmlformats.org/drawingml/2006/main">
              <a:ext uri="{FF2B5EF4-FFF2-40B4-BE49-F238E27FC236}">
                <a16:creationId xmlns:a16="http://schemas.microsoft.com/office/drawing/2014/main" id="{5F132AAF-FB95-469D-8607-827BEE44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82050"/>
            <a:ext cx="9906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39700" algn="l">
              <a:spcAft>
                <a:spcPts val="600"/>
              </a:spcAft>
              <a:buChar char="•"/>
              <a:defRPr sz="2100" b="0">
                <a:solidFill>
                  <a:srgbClr val="08224A"/>
                </a:solidFill>
                <a:latin typeface="Arial"/>
                <a:ea typeface="Arial"/>
                <a:cs typeface="Arial"/>
              </a:defRPr>
            </a:pPr>
            <a:r>
              <a:t>Native Android Compose renderer implemented</a:t>
            </a:r>
          </a:p>
          <a:p xmlns:a="http://schemas.openxmlformats.org/drawingml/2006/main">
            <a:pPr marL="228600" indent="-139700" algn="l">
              <a:spcAft>
                <a:spcPts val="600"/>
              </a:spcAft>
              <a:buChar char="•"/>
              <a:defRPr sz="2100" b="0">
                <a:solidFill>
                  <a:srgbClr val="08224A"/>
                </a:solidFill>
                <a:latin typeface="Arial"/>
                <a:ea typeface="Arial"/>
                <a:cs typeface="Arial"/>
              </a:defRPr>
            </a:pPr>
            <a:r>
              <a:t>Metrics, checkpoint evaluation and golden tests automated</a:t>
            </a:r>
          </a:p>
          <a:p xmlns:a="http://schemas.openxmlformats.org/drawingml/2006/main">
            <a:pPr marL="228600" indent="-139700" algn="l">
              <a:spcAft>
                <a:spcPts val="600"/>
              </a:spcAft>
              <a:buChar char="•"/>
              <a:defRPr sz="2100" b="0">
                <a:solidFill>
                  <a:srgbClr val="08224A"/>
                </a:solidFill>
                <a:latin typeface="Arial"/>
                <a:ea typeface="Arial"/>
                <a:cs typeface="Arial"/>
              </a:defRPr>
            </a:pPr>
            <a:r>
              <a:t>LiteRT-LM W32 / W16 / W8 / W4 exports and GPU inference for E2B / 270M</a:t>
            </a:r>
          </a:p>
        </p:txBody>
      </p:sp>
      <p:sp>
        <p:nvSpPr>
          <p:cNvPr id="23" name="research-heading">
            <a:extLst xmlns:a="http://schemas.openxmlformats.org/drawingml/2006/main">
              <a:ext uri="{FF2B5EF4-FFF2-40B4-BE49-F238E27FC236}">
                <a16:creationId xmlns:a16="http://schemas.microsoft.com/office/drawing/2014/main" id="{F19C8081-4DAF-4F95-AF9F-D004438C4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8239125"/>
            <a:ext cx="634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08224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8224A"/>
                </a:solidFill>
                <a:latin typeface="Arial"/>
                <a:ea typeface="Arial"/>
                <a:cs typeface="Arial"/>
              </a:rPr>
              <a:t>Patents &amp; Research</a:t>
            </a:r>
          </a:p>
        </p:txBody>
      </p:sp>
      <p:sp>
        <p:nvSpPr>
          <p:cNvPr id="24" name="research-items">
            <a:extLst xmlns:a="http://schemas.openxmlformats.org/drawingml/2006/main">
              <a:ext uri="{FF2B5EF4-FFF2-40B4-BE49-F238E27FC236}">
                <a16:creationId xmlns:a16="http://schemas.microsoft.com/office/drawing/2014/main" id="{078D7621-614F-41F3-9CD5-6C07AF02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8782050"/>
            <a:ext cx="63436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39700" algn="l">
              <a:spcAft>
                <a:spcPts val="1400"/>
              </a:spcAft>
              <a:buChar char="•"/>
              <a:defRPr sz="2100" b="0">
                <a:solidFill>
                  <a:srgbClr val="08224A"/>
                </a:solidFill>
                <a:latin typeface="Arial"/>
                <a:ea typeface="Arial"/>
                <a:cs typeface="Arial"/>
              </a:defRPr>
            </a:pPr>
            <a:r>
              <a:t>Patent pipeline</a:t>
            </a:r>
          </a:p>
          <a:p xmlns:a="http://schemas.openxmlformats.org/drawingml/2006/main">
            <a:pPr marL="228600" indent="-139700" algn="l">
              <a:spcAft>
                <a:spcPts val="1400"/>
              </a:spcAft>
              <a:buChar char="•"/>
              <a:defRPr sz="2100" b="0">
                <a:solidFill>
                  <a:srgbClr val="08224A"/>
                </a:solidFill>
                <a:latin typeface="Arial"/>
                <a:ea typeface="Arial"/>
                <a:cs typeface="Arial"/>
              </a:defRPr>
            </a:pPr>
            <a:r>
              <a:t>Research publication</a:t>
            </a:r>
          </a:p>
        </p:txBody>
      </p:sp>
    </p:spTree>
    <p:extLst>
      <p:ext uri="{BB962C8B-B14F-4D97-AF65-F5344CB8AC3E}">
        <p14:creationId xmlns:p14="http://schemas.microsoft.com/office/powerpoint/2010/main" val="14632469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2026-09-16T17:58:50.1430000Z</dcterms:created>
  <dcterms:modified xsi:type="dcterms:W3CDTF">2026-09-16T17:58:50.1430000Z</dcterms:modified>
</coreProperties>
</file>