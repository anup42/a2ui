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04145d3baf14846" /><Relationship Type="http://schemas.openxmlformats.org/officeDocument/2006/relationships/extended-properties" Target="/docProps/app.xml" Id="Reccfaa2430034338" /><Relationship Type="http://schemas.openxmlformats.org/officeDocument/2006/relationships/officeDocument" Target="/ppt/presentation.xml" Id="Rea4877940b8b4c2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6351177867d42eb"/>
  </p:sldMasterIdLst>
  <p:notesMasterIdLst>
    <p:notesMasterId xmlns:r="http://schemas.openxmlformats.org/officeDocument/2006/relationships" r:id="R13c90bed3b374ab9"/>
  </p:notesMasterIdLst>
  <p:sldIdLst>
    <p:sldId xmlns:r="http://schemas.openxmlformats.org/officeDocument/2006/relationships" id="256" r:id="Rfdca21350fc34c0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00e60cb794c437e" /><Relationship Type="http://schemas.openxmlformats.org/officeDocument/2006/relationships/slideMaster" Target="/ppt/slideMasters/slideMaster1.xml" Id="R66351177867d42eb" /><Relationship Type="http://schemas.openxmlformats.org/officeDocument/2006/relationships/notesMaster" Target="/ppt/notesMasters/notesMaster1.xml" Id="R13c90bed3b374ab9" /><Relationship Type="http://schemas.openxmlformats.org/officeDocument/2006/relationships/presProps" Target="/ppt/presProps.xml" Id="Rf4725c1c1f64478c" /><Relationship Type="http://schemas.openxmlformats.org/officeDocument/2006/relationships/tableStyles" Target="/ppt/tableStyles.xml" Id="R9eb2c64b21db4042" /><Relationship Type="http://schemas.openxmlformats.org/officeDocument/2006/relationships/slide" Target="/ppt/slides/slide1.xml" Id="Rfdca21350fc34c0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677b6ef22034b3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32512df02654192" /><Relationship Type="http://schemas.openxmlformats.org/officeDocument/2006/relationships/notesMaster" Target="/ppt/notesMasters/notesMaster1.xml" Id="Re53261a7b31e4ea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Dataset filtering and repair overview for GenUI Craft LM and A2UI Express.</a:t>
            </a:r>
          </a:p>
          <a:p xmlns:a="http://schemas.openxmlformats.org/drawingml/2006/main">
            <a:r>
              <a:t>The version range includes dataset copy revisions and internal policy revisions.</a:t>
            </a:r>
          </a:p>
          <a:p xmlns:a="http://schemas.openxmlformats.org/drawingml/2006/main">
            <a:r>
              <a:t>Preserve the distinction between structural validity and semantic or factual quality.</a:t>
            </a:r>
          </a:p>
          <a:p xmlns:a="http://schemas.openxmlformats.org/drawingml/2006/main">
            <a:r>
              <a:t>The latest manual audit identified additional repair and rejection recommendations that remain pending.</a:t>
            </a:r>
          </a:p>
          <a:p xmlns:a="http://schemas.openxmlformats.org/drawingml/2006/main">
            <a:r>
              <a:t>No sample counts appear in this presentation. No measured improvement in model scores is claimed.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training/reports/full_data_audit_20260913/REPORT.md</a:t>
            </a:r>
          </a:p>
          <a:p xmlns:a="http://schemas.openxmlformats.org/drawingml/2006/main">
            <a:r>
              <a:t>training/reports/offline_recovery_20260913_v9/REPORT.md</a:t>
            </a:r>
          </a:p>
          <a:p xmlns:a="http://schemas.openxmlformats.org/drawingml/2006/main">
            <a:r>
              <a:t>training/reports/offline_recovery_20260916_v10/REPORT.md</a:t>
            </a:r>
          </a:p>
          <a:p xmlns:a="http://schemas.openxmlformats.org/drawingml/2006/main">
            <a:r>
              <a:t>training/reports/v10_manual100_20260916/REPORT.md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ab8c92f2064f1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dc9e89ff47f4835" /><Relationship Type="http://schemas.openxmlformats.org/officeDocument/2006/relationships/slideLayout" Target="/ppt/slideLayouts/slideLayout1.xml" Id="R0dad0b87ae314ad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dad0b87ae314ad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6c666c89d14612" /><Relationship Type="http://schemas.openxmlformats.org/officeDocument/2006/relationships/notesSlide" Target="/ppt/notesSlides/notesSlide1.xml" Id="R92aa073a6b1d46e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">
            <a:extLst xmlns:a="http://schemas.openxmlformats.org/drawingml/2006/main">
              <a:ext uri="{FF2B5EF4-FFF2-40B4-BE49-F238E27FC236}">
                <a16:creationId xmlns:a16="http://schemas.microsoft.com/office/drawing/2014/main" id="{12B4FFDE-2B8B-41A5-8B36-A4CF91AC6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254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544"/>
                </a:solidFill>
                <a:latin typeface="Arial"/>
                <a:ea typeface="Arial"/>
                <a:cs typeface="Arial"/>
              </a:rPr>
              <a:t>Dataset filtering &amp; repair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1132C82-F03F-445F-A06C-F9A63F3CC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90625"/>
            <a:ext cx="109442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4566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4566C"/>
                </a:solidFill>
                <a:latin typeface="Arial"/>
                <a:ea typeface="Arial"/>
                <a:cs typeface="Arial"/>
              </a:rPr>
              <a:t>A2UI Express training data refinement across v1–v10</a:t>
            </a:r>
          </a:p>
        </p:txBody>
      </p:sp>
      <p:sp>
        <p:nvSpPr>
          <p:cNvPr id="3" name="stage-0-title">
            <a:extLst xmlns:a="http://schemas.openxmlformats.org/drawingml/2006/main">
              <a:ext uri="{FF2B5EF4-FFF2-40B4-BE49-F238E27FC236}">
                <a16:creationId xmlns:a16="http://schemas.microsoft.com/office/drawing/2014/main" id="{3D63B1B6-E689-4C87-8CFF-04E9FAD14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26574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62B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62B5"/>
                </a:solidFill>
                <a:latin typeface="Arial"/>
                <a:ea typeface="Arial"/>
                <a:cs typeface="Arial"/>
              </a:rPr>
              <a:t>Audit</a:t>
            </a:r>
          </a:p>
        </p:txBody>
      </p:sp>
      <p:sp>
        <p:nvSpPr>
          <p:cNvPr id="4" name="stage-0-detail">
            <a:extLst xmlns:a="http://schemas.openxmlformats.org/drawingml/2006/main">
              <a:ext uri="{FF2B5EF4-FFF2-40B4-BE49-F238E27FC236}">
                <a16:creationId xmlns:a16="http://schemas.microsoft.com/office/drawing/2014/main" id="{925E6B60-9930-4CA6-A9D1-59D46556B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2657475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63" b="0">
                <a:solidFill>
                  <a:srgbClr val="44566C"/>
                </a:solidFill>
                <a:latin typeface="Arial"/>
                <a:ea typeface="Arial"/>
                <a:cs typeface="Arial"/>
              </a:defRPr>
            </a:pPr>
            <a:r>
              <a:rPr sz="1763" b="0">
                <a:solidFill>
                  <a:srgbClr val="44566C"/>
                </a:solidFill>
                <a:latin typeface="Arial"/>
                <a:ea typeface="Arial"/>
                <a:cs typeface="Arial"/>
              </a:rPr>
              <a:t>Compare source responses</a:t>
            </a:r>
          </a:p>
          <a:p xmlns:a="http://schemas.openxmlformats.org/drawingml/2006/main">
            <a:pPr algn="l">
              <a:defRPr sz="1763" b="0">
                <a:solidFill>
                  <a:srgbClr val="44566C"/>
                </a:solidFill>
                <a:latin typeface="Arial"/>
                <a:ea typeface="Arial"/>
                <a:cs typeface="Arial"/>
              </a:defRPr>
            </a:pPr>
            <a:r>
              <a:rPr sz="1763" b="0">
                <a:solidFill>
                  <a:srgbClr val="44566C"/>
                </a:solidFill>
                <a:latin typeface="Arial"/>
                <a:ea typeface="Arial"/>
                <a:cs typeface="Arial"/>
              </a:rPr>
              <a:t>with A2UI Express IR.</a:t>
            </a:r>
          </a:p>
          <a:p xmlns:a="http://schemas.openxmlformats.org/drawingml/2006/main">
            <a:pPr algn="l">
              <a:defRPr sz="1763" b="0">
                <a:solidFill>
                  <a:srgbClr val="44566C"/>
                </a:solidFill>
                <a:latin typeface="Arial"/>
                <a:ea typeface="Arial"/>
                <a:cs typeface="Arial"/>
              </a:defRPr>
            </a:pPr>
            <a:r>
              <a:rPr sz="1763" b="0">
                <a:solidFill>
                  <a:srgbClr val="44566C"/>
                </a:solidFill>
                <a:latin typeface="Arial"/>
                <a:ea typeface="Arial"/>
                <a:cs typeface="Arial"/>
              </a:rPr>
              <a:t>Check completeness,</a:t>
            </a:r>
          </a:p>
          <a:p xmlns:a="http://schemas.openxmlformats.org/drawingml/2006/main">
            <a:pPr algn="l">
              <a:defRPr sz="1763" b="0">
                <a:solidFill>
                  <a:srgbClr val="44566C"/>
                </a:solidFill>
                <a:latin typeface="Arial"/>
                <a:ea typeface="Arial"/>
                <a:cs typeface="Arial"/>
              </a:defRPr>
            </a:pPr>
            <a:r>
              <a:rPr sz="1763" b="0">
                <a:solidFill>
                  <a:srgbClr val="44566C"/>
                </a:solidFill>
                <a:latin typeface="Arial"/>
                <a:ea typeface="Arial"/>
                <a:cs typeface="Arial"/>
              </a:rPr>
              <a:t>encoding and references.</a:t>
            </a:r>
          </a:p>
        </p:txBody>
      </p:sp>
      <p:sp>
        <p:nvSpPr>
          <p:cNvPr id="5" name="stage-1-title">
            <a:extLst xmlns:a="http://schemas.openxmlformats.org/drawingml/2006/main">
              <a:ext uri="{FF2B5EF4-FFF2-40B4-BE49-F238E27FC236}">
                <a16:creationId xmlns:a16="http://schemas.microsoft.com/office/drawing/2014/main" id="{ED70674D-0054-4AC0-8D13-019DF5A53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152650"/>
            <a:ext cx="26574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62B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62B5"/>
                </a:solidFill>
                <a:latin typeface="Arial"/>
                <a:ea typeface="Arial"/>
                <a:cs typeface="Arial"/>
              </a:rPr>
              <a:t>Repair &amp; filter</a:t>
            </a:r>
          </a:p>
        </p:txBody>
      </p:sp>
      <p:sp>
        <p:nvSpPr>
          <p:cNvPr id="6" name="stage-1-detail">
            <a:extLst xmlns:a="http://schemas.openxmlformats.org/drawingml/2006/main">
              <a:ext uri="{FF2B5EF4-FFF2-40B4-BE49-F238E27FC236}">
                <a16:creationId xmlns:a16="http://schemas.microsoft.com/office/drawing/2014/main" id="{97FDCC6C-DE11-4DDB-90D7-2ABB65D74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838450"/>
            <a:ext cx="2657475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63" b="0">
                <a:solidFill>
                  <a:srgbClr val="44566C"/>
                </a:solidFill>
                <a:latin typeface="Arial"/>
                <a:ea typeface="Arial"/>
                <a:cs typeface="Arial"/>
              </a:defRPr>
            </a:pPr>
            <a:r>
              <a:rPr sz="1763" b="0">
                <a:solidFill>
                  <a:srgbClr val="44566C"/>
                </a:solidFill>
                <a:latin typeface="Arial"/>
                <a:ea typeface="Arial"/>
                <a:cs typeface="Arial"/>
              </a:rPr>
              <a:t>Apply fixes supported</a:t>
            </a:r>
          </a:p>
          <a:p xmlns:a="http://schemas.openxmlformats.org/drawingml/2006/main">
            <a:pPr algn="l">
              <a:defRPr sz="1763" b="0">
                <a:solidFill>
                  <a:srgbClr val="44566C"/>
                </a:solidFill>
                <a:latin typeface="Arial"/>
                <a:ea typeface="Arial"/>
                <a:cs typeface="Arial"/>
              </a:defRPr>
            </a:pPr>
            <a:r>
              <a:rPr sz="1763" b="0">
                <a:solidFill>
                  <a:srgbClr val="44566C"/>
                </a:solidFill>
                <a:latin typeface="Arial"/>
                <a:ea typeface="Arial"/>
                <a:cs typeface="Arial"/>
              </a:rPr>
              <a:t>by the source.</a:t>
            </a:r>
          </a:p>
          <a:p xmlns:a="http://schemas.openxmlformats.org/drawingml/2006/main">
            <a:pPr algn="l">
              <a:defRPr sz="1763" b="0">
                <a:solidFill>
                  <a:srgbClr val="44566C"/>
                </a:solidFill>
                <a:latin typeface="Arial"/>
                <a:ea typeface="Arial"/>
                <a:cs typeface="Arial"/>
              </a:defRPr>
            </a:pPr>
            <a:r>
              <a:rPr sz="1763" b="0">
                <a:solidFill>
                  <a:srgbClr val="44566C"/>
                </a:solidFill>
                <a:latin typeface="Arial"/>
                <a:ea typeface="Arial"/>
                <a:cs typeface="Arial"/>
              </a:rPr>
              <a:t>Quarantine incomplete</a:t>
            </a:r>
          </a:p>
          <a:p xmlns:a="http://schemas.openxmlformats.org/drawingml/2006/main">
            <a:pPr algn="l">
              <a:defRPr sz="1763" b="0">
                <a:solidFill>
                  <a:srgbClr val="44566C"/>
                </a:solidFill>
                <a:latin typeface="Arial"/>
                <a:ea typeface="Arial"/>
                <a:cs typeface="Arial"/>
              </a:defRPr>
            </a:pPr>
            <a:r>
              <a:rPr sz="1763" b="0">
                <a:solidFill>
                  <a:srgbClr val="44566C"/>
                </a:solidFill>
                <a:latin typeface="Arial"/>
                <a:ea typeface="Arial"/>
                <a:cs typeface="Arial"/>
              </a:rPr>
              <a:t>or uncertain records.</a:t>
            </a:r>
          </a:p>
        </p:txBody>
      </p:sp>
      <p:sp>
        <p:nvSpPr>
          <p:cNvPr id="7" name="stage-2-title">
            <a:extLst xmlns:a="http://schemas.openxmlformats.org/drawingml/2006/main">
              <a:ext uri="{FF2B5EF4-FFF2-40B4-BE49-F238E27FC236}">
                <a16:creationId xmlns:a16="http://schemas.microsoft.com/office/drawing/2014/main" id="{8BBE28AE-90C2-4CCD-994F-FD8138259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152650"/>
            <a:ext cx="26574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62B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62B5"/>
                </a:solidFill>
                <a:latin typeface="Arial"/>
                <a:ea typeface="Arial"/>
                <a:cs typeface="Arial"/>
              </a:rPr>
              <a:t>Protect evaluation</a:t>
            </a:r>
          </a:p>
        </p:txBody>
      </p:sp>
      <p:sp>
        <p:nvSpPr>
          <p:cNvPr id="8" name="stage-2-detail">
            <a:extLst xmlns:a="http://schemas.openxmlformats.org/drawingml/2006/main">
              <a:ext uri="{FF2B5EF4-FFF2-40B4-BE49-F238E27FC236}">
                <a16:creationId xmlns:a16="http://schemas.microsoft.com/office/drawing/2014/main" id="{2EB33F57-46B3-4643-BCCF-1C861C6AD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38450"/>
            <a:ext cx="2657475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63" b="0">
                <a:solidFill>
                  <a:srgbClr val="44566C"/>
                </a:solidFill>
                <a:latin typeface="Arial"/>
                <a:ea typeface="Arial"/>
                <a:cs typeface="Arial"/>
              </a:defRPr>
            </a:pPr>
            <a:r>
              <a:rPr sz="1763" b="0">
                <a:solidFill>
                  <a:srgbClr val="44566C"/>
                </a:solidFill>
                <a:latin typeface="Arial"/>
                <a:ea typeface="Arial"/>
                <a:cs typeface="Arial"/>
              </a:rPr>
              <a:t>Remove detected Golden</a:t>
            </a:r>
          </a:p>
          <a:p xmlns:a="http://schemas.openxmlformats.org/drawingml/2006/main">
            <a:pPr algn="l">
              <a:defRPr sz="1763" b="0">
                <a:solidFill>
                  <a:srgbClr val="44566C"/>
                </a:solidFill>
                <a:latin typeface="Arial"/>
                <a:ea typeface="Arial"/>
                <a:cs typeface="Arial"/>
              </a:defRPr>
            </a:pPr>
            <a:r>
              <a:rPr sz="1763" b="0">
                <a:solidFill>
                  <a:srgbClr val="44566C"/>
                </a:solidFill>
                <a:latin typeface="Arial"/>
                <a:ea typeface="Arial"/>
                <a:cs typeface="Arial"/>
              </a:rPr>
              <a:t>test-set overlap.</a:t>
            </a:r>
          </a:p>
          <a:p xmlns:a="http://schemas.openxmlformats.org/drawingml/2006/main">
            <a:pPr algn="l">
              <a:defRPr sz="1763" b="0">
                <a:solidFill>
                  <a:srgbClr val="44566C"/>
                </a:solidFill>
                <a:latin typeface="Arial"/>
                <a:ea typeface="Arial"/>
                <a:cs typeface="Arial"/>
              </a:defRPr>
            </a:pPr>
            <a:r>
              <a:rPr sz="1763" b="0">
                <a:solidFill>
                  <a:srgbClr val="44566C"/>
                </a:solidFill>
                <a:latin typeface="Arial"/>
                <a:ea typeface="Arial"/>
                <a:cs typeface="Arial"/>
              </a:rPr>
              <a:t>Rebuild validation with</a:t>
            </a:r>
          </a:p>
          <a:p xmlns:a="http://schemas.openxmlformats.org/drawingml/2006/main">
            <a:pPr algn="l">
              <a:defRPr sz="1763" b="0">
                <a:solidFill>
                  <a:srgbClr val="44566C"/>
                </a:solidFill>
                <a:latin typeface="Arial"/>
                <a:ea typeface="Arial"/>
                <a:cs typeface="Arial"/>
              </a:defRPr>
            </a:pPr>
            <a:r>
              <a:rPr sz="1763" b="0">
                <a:solidFill>
                  <a:srgbClr val="44566C"/>
                </a:solidFill>
                <a:latin typeface="Arial"/>
                <a:ea typeface="Arial"/>
                <a:cs typeface="Arial"/>
              </a:rPr>
              <a:t>related sources together.</a:t>
            </a:r>
          </a:p>
        </p:txBody>
      </p:sp>
      <p:sp>
        <p:nvSpPr>
          <p:cNvPr id="9" name="stage-3-title">
            <a:extLst xmlns:a="http://schemas.openxmlformats.org/drawingml/2006/main">
              <a:ext uri="{FF2B5EF4-FFF2-40B4-BE49-F238E27FC236}">
                <a16:creationId xmlns:a16="http://schemas.microsoft.com/office/drawing/2014/main" id="{9EE86870-C9CB-4220-AEE8-C3F239B17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152650"/>
            <a:ext cx="26574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62B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62B5"/>
                </a:solidFill>
                <a:latin typeface="Arial"/>
                <a:ea typeface="Arial"/>
                <a:cs typeface="Arial"/>
              </a:rPr>
              <a:t>Review quality</a:t>
            </a:r>
          </a:p>
        </p:txBody>
      </p:sp>
      <p:sp>
        <p:nvSpPr>
          <p:cNvPr id="10" name="stage-3-detail">
            <a:extLst xmlns:a="http://schemas.openxmlformats.org/drawingml/2006/main">
              <a:ext uri="{FF2B5EF4-FFF2-40B4-BE49-F238E27FC236}">
                <a16:creationId xmlns:a16="http://schemas.microsoft.com/office/drawing/2014/main" id="{B234C06D-5394-49C5-BF7F-29659127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838450"/>
            <a:ext cx="2657475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63" b="0">
                <a:solidFill>
                  <a:srgbClr val="44566C"/>
                </a:solidFill>
                <a:latin typeface="Arial"/>
                <a:ea typeface="Arial"/>
                <a:cs typeface="Arial"/>
              </a:defRPr>
            </a:pPr>
            <a:r>
              <a:rPr sz="1763" b="0">
                <a:solidFill>
                  <a:srgbClr val="44566C"/>
                </a:solidFill>
                <a:latin typeface="Arial"/>
                <a:ea typeface="Arial"/>
                <a:cs typeface="Arial"/>
              </a:rPr>
              <a:t>Combine strict checks</a:t>
            </a:r>
          </a:p>
          <a:p xmlns:a="http://schemas.openxmlformats.org/drawingml/2006/main">
            <a:pPr algn="l">
              <a:defRPr sz="1763" b="0">
                <a:solidFill>
                  <a:srgbClr val="44566C"/>
                </a:solidFill>
                <a:latin typeface="Arial"/>
                <a:ea typeface="Arial"/>
                <a:cs typeface="Arial"/>
              </a:defRPr>
            </a:pPr>
            <a:r>
              <a:rPr sz="1763" b="0">
                <a:solidFill>
                  <a:srgbClr val="44566C"/>
                </a:solidFill>
                <a:latin typeface="Arial"/>
                <a:ea typeface="Arial"/>
                <a:cs typeface="Arial"/>
              </a:rPr>
              <a:t>with manual reading.</a:t>
            </a:r>
          </a:p>
          <a:p xmlns:a="http://schemas.openxmlformats.org/drawingml/2006/main">
            <a:pPr algn="l">
              <a:defRPr sz="1763" b="0">
                <a:solidFill>
                  <a:srgbClr val="44566C"/>
                </a:solidFill>
                <a:latin typeface="Arial"/>
                <a:ea typeface="Arial"/>
                <a:cs typeface="Arial"/>
              </a:defRPr>
            </a:pPr>
            <a:r>
              <a:rPr sz="1763" b="0">
                <a:solidFill>
                  <a:srgbClr val="44566C"/>
                </a:solidFill>
                <a:latin typeface="Arial"/>
                <a:ea typeface="Arial"/>
                <a:cs typeface="Arial"/>
              </a:rPr>
              <a:t>Flag missing meaning</a:t>
            </a:r>
          </a:p>
          <a:p xmlns:a="http://schemas.openxmlformats.org/drawingml/2006/main">
            <a:pPr algn="l">
              <a:defRPr sz="1763" b="0">
                <a:solidFill>
                  <a:srgbClr val="44566C"/>
                </a:solidFill>
                <a:latin typeface="Arial"/>
                <a:ea typeface="Arial"/>
                <a:cs typeface="Arial"/>
              </a:defRPr>
            </a:pPr>
            <a:r>
              <a:rPr sz="1763" b="0">
                <a:solidFill>
                  <a:srgbClr val="44566C"/>
                </a:solidFill>
                <a:latin typeface="Arial"/>
                <a:ea typeface="Arial"/>
                <a:cs typeface="Arial"/>
              </a:rPr>
              <a:t>and source-fact issues.</a:t>
            </a:r>
          </a:p>
        </p:txBody>
      </p:sp>
      <p:sp>
        <p:nvSpPr>
          <p:cNvPr id="11" name="completed-heading">
            <a:extLst xmlns:a="http://schemas.openxmlformats.org/drawingml/2006/main">
              <a:ext uri="{FF2B5EF4-FFF2-40B4-BE49-F238E27FC236}">
                <a16:creationId xmlns:a16="http://schemas.microsoft.com/office/drawing/2014/main" id="{4F88215D-04BD-4EA2-A028-82C661030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5048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37E7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37E75"/>
                </a:solidFill>
                <a:latin typeface="Arial"/>
                <a:ea typeface="Arial"/>
                <a:cs typeface="Arial"/>
              </a:rPr>
              <a:t>Completed</a:t>
            </a:r>
          </a:p>
        </p:txBody>
      </p:sp>
      <p:sp>
        <p:nvSpPr>
          <p:cNvPr id="12" name="completed-detail">
            <a:extLst xmlns:a="http://schemas.openxmlformats.org/drawingml/2006/main">
              <a:ext uri="{FF2B5EF4-FFF2-40B4-BE49-F238E27FC236}">
                <a16:creationId xmlns:a16="http://schemas.microsoft.com/office/drawing/2014/main" id="{D66F0A76-1B81-4844-BE55-6950EA648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524827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25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544"/>
                </a:solidFill>
                <a:latin typeface="Arial"/>
                <a:ea typeface="Arial"/>
                <a:cs typeface="Arial"/>
              </a:rPr>
              <a:t>Versioned recovery and validation rebuilding.</a:t>
            </a:r>
          </a:p>
          <a:p xmlns:a="http://schemas.openxmlformats.org/drawingml/2006/main">
            <a:pPr algn="l">
              <a:defRPr sz="1800" b="0">
                <a:solidFill>
                  <a:srgbClr val="1025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544"/>
                </a:solidFill>
                <a:latin typeface="Arial"/>
                <a:ea typeface="Arial"/>
                <a:cs typeface="Arial"/>
              </a:rPr>
              <a:t>Original data and repair decisions preserved.</a:t>
            </a:r>
          </a:p>
        </p:txBody>
      </p:sp>
      <p:sp>
        <p:nvSpPr>
          <p:cNvPr id="13" name="pending-heading">
            <a:extLst xmlns:a="http://schemas.openxmlformats.org/drawingml/2006/main">
              <a:ext uri="{FF2B5EF4-FFF2-40B4-BE49-F238E27FC236}">
                <a16:creationId xmlns:a16="http://schemas.microsoft.com/office/drawing/2014/main" id="{78B2793E-E600-44EE-97D4-284853BEA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876800"/>
            <a:ext cx="54102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9A570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9A5709"/>
                </a:solidFill>
                <a:latin typeface="Arial"/>
                <a:ea typeface="Arial"/>
                <a:cs typeface="Arial"/>
              </a:rPr>
              <a:t>Further cleanup pending</a:t>
            </a:r>
          </a:p>
        </p:txBody>
      </p:sp>
      <p:sp>
        <p:nvSpPr>
          <p:cNvPr id="14" name="pending-detail">
            <a:extLst xmlns:a="http://schemas.openxmlformats.org/drawingml/2006/main">
              <a:ext uri="{FF2B5EF4-FFF2-40B4-BE49-F238E27FC236}">
                <a16:creationId xmlns:a16="http://schemas.microsoft.com/office/drawing/2014/main" id="{92F4E2C0-AFBC-4DDD-B87A-FA2A43FD0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381625"/>
            <a:ext cx="54292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25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544"/>
                </a:solidFill>
                <a:latin typeface="Arial"/>
                <a:ea typeface="Arial"/>
                <a:cs typeface="Arial"/>
              </a:rPr>
              <a:t>Targeted semantic repairs and source verification.</a:t>
            </a:r>
          </a:p>
          <a:p xmlns:a="http://schemas.openxmlformats.org/drawingml/2006/main">
            <a:pPr algn="l">
              <a:defRPr sz="1800" b="0">
                <a:solidFill>
                  <a:srgbClr val="1025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544"/>
                </a:solidFill>
                <a:latin typeface="Arial"/>
                <a:ea typeface="Arial"/>
                <a:cs typeface="Arial"/>
              </a:rPr>
              <a:t>Final dataset quality approval remains open.</a:t>
            </a:r>
          </a:p>
        </p:txBody>
      </p:sp>
    </p:spTree>
    <p:extLst>
      <p:ext uri="{BB962C8B-B14F-4D97-AF65-F5344CB8AC3E}">
        <p14:creationId xmlns:p14="http://schemas.microsoft.com/office/powerpoint/2010/main" val="6747240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2026-09-16T20:05:24.1280000Z</dcterms:created>
  <dcterms:modified xsi:type="dcterms:W3CDTF">2026-09-16T20:05:24.1280000Z</dcterms:modified>
</coreProperties>
</file>