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4fb04d099c4753" /><Relationship Type="http://schemas.openxmlformats.org/officeDocument/2006/relationships/extended-properties" Target="/docProps/app.xml" Id="R67c94f4b71c74c95" /><Relationship Type="http://schemas.openxmlformats.org/officeDocument/2006/relationships/officeDocument" Target="/ppt/presentation.xml" Id="R2ea7d17bd73f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ca167f5def4fd1"/>
  </p:sldMasterIdLst>
  <p:notesMasterIdLst>
    <p:notesMasterId xmlns:r="http://schemas.openxmlformats.org/officeDocument/2006/relationships" r:id="Rbf1d49b7736f4dc1"/>
  </p:notesMasterIdLst>
  <p:sldIdLst>
    <p:sldId xmlns:r="http://schemas.openxmlformats.org/officeDocument/2006/relationships" id="256" r:id="R595ce0b70a3d45e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c60b799f584038" /><Relationship Type="http://schemas.openxmlformats.org/officeDocument/2006/relationships/slideMaster" Target="/ppt/slideMasters/slideMaster1.xml" Id="R6bca167f5def4fd1" /><Relationship Type="http://schemas.openxmlformats.org/officeDocument/2006/relationships/notesMaster" Target="/ppt/notesMasters/notesMaster1.xml" Id="Rbf1d49b7736f4dc1" /><Relationship Type="http://schemas.openxmlformats.org/officeDocument/2006/relationships/presProps" Target="/ppt/presProps.xml" Id="R6636ce507ca64e65" /><Relationship Type="http://schemas.openxmlformats.org/officeDocument/2006/relationships/tableStyles" Target="/ppt/tableStyles.xml" Id="R4541c0e8c9a641ff" /><Relationship Type="http://schemas.openxmlformats.org/officeDocument/2006/relationships/slide" Target="/ppt/slides/slide1.xml" Id="R595ce0b70a3d45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2f5a7eaa304e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bbc3f05d5e4934" /><Relationship Type="http://schemas.openxmlformats.org/officeDocument/2006/relationships/notesMaster" Target="/ppt/notesMasters/notesMaster1.xml" Id="Reb950e4e156443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eight items are proposed future work, not completed results. No numerical improvement target or delivery date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unseen holdout must stay outside training, dataset repair and hyperparameter tuning. MTP requires validation of the fine-tuned E2B target and assistant in the final deployment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Content source: the eight next-plan priorities approved in this conversation. Visual reference: docs/assets/a2ui_system_architecture/07_genui_craft_lm_next_plan.png. This deck uses native editable text and layout lines rather than embedding that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Background references: https://arxiv.org/abs/2403.04132 and https://huggingface.co/docs/transformers/model_doc/gemma4_assistant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58ab5382047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dd6d0a4c1b46f3" /><Relationship Type="http://schemas.openxmlformats.org/officeDocument/2006/relationships/slideLayout" Target="/ppt/slideLayouts/slideLayout1.xml" Id="R69ee294e1c16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e294e1c16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792dfe29e48cf" /><Relationship Type="http://schemas.openxmlformats.org/officeDocument/2006/relationships/notesSlide" Target="/ppt/notesSlides/notesSlide1.xml" Id="Rae32f8dc173748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2E2C71-2A75-487E-B103-0C6AC68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706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GenUI Craft LM Next Plan</a:t>
            </a:r>
          </a:p>
        </p:txBody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BFA8582B-406F-42A7-91B0-3ACEBE06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3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008A9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A98"/>
                </a:solidFill>
                <a:latin typeface="Arial"/>
                <a:ea typeface="Arial"/>
                <a:cs typeface="Arial"/>
              </a:rPr>
              <a:t>Quality &amp; Evaluation</a:t>
            </a:r>
          </a:p>
        </p:txBody>
      </p:sp>
      <p:sp>
        <p:nvSpPr>
          <p:cNvPr id="3" name="section-rule-1">
            <a:extLst xmlns:a="http://schemas.openxmlformats.org/drawingml/2006/main">
              <a:ext uri="{FF2B5EF4-FFF2-40B4-BE49-F238E27FC236}">
                <a16:creationId xmlns:a16="http://schemas.microsoft.com/office/drawing/2014/main" id="{0563D6BB-616C-4BEF-938B-5BC8979D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A98"/>
            </a:solidFill>
            <a:prstDash val="solid"/>
          </a:ln>
        </p:spPr>
      </p:sp>
      <p:sp>
        <p:nvSpPr>
          <p:cNvPr id="4" name="topic-number-1">
            <a:extLst xmlns:a="http://schemas.openxmlformats.org/drawingml/2006/main">
              <a:ext uri="{FF2B5EF4-FFF2-40B4-BE49-F238E27FC236}">
                <a16:creationId xmlns:a16="http://schemas.microsoft.com/office/drawing/2014/main" id="{B1C0D599-A054-4627-AF0A-FBCBFA5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A82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A82A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topic-heading-1">
            <a:extLst xmlns:a="http://schemas.openxmlformats.org/drawingml/2006/main">
              <a:ext uri="{FF2B5EF4-FFF2-40B4-BE49-F238E27FC236}">
                <a16:creationId xmlns:a16="http://schemas.microsoft.com/office/drawing/2014/main" id="{512641A2-2C8A-42B3-8F9B-09602E98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Model KPI Improvement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062F9BC2-012C-4FD9-81C4-F97FD5B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4838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Improve IR validity, source coverage, visual quality and action accuracy on golden and unseen cases.</a:t>
            </a:r>
          </a:p>
        </p:txBody>
      </p:sp>
      <p:sp>
        <p:nvSpPr>
          <p:cNvPr id="7" name="topic-number-2">
            <a:extLst xmlns:a="http://schemas.openxmlformats.org/drawingml/2006/main">
              <a:ext uri="{FF2B5EF4-FFF2-40B4-BE49-F238E27FC236}">
                <a16:creationId xmlns:a16="http://schemas.microsoft.com/office/drawing/2014/main" id="{41A7BFDC-4755-4B57-8E68-3AE9D6B8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A82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A82A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topic-heading-2">
            <a:extLst xmlns:a="http://schemas.openxmlformats.org/drawingml/2006/main">
              <a:ext uri="{FF2B5EF4-FFF2-40B4-BE49-F238E27FC236}">
                <a16:creationId xmlns:a16="http://schemas.microsoft.com/office/drawing/2014/main" id="{1ABCAFD9-4D77-4274-B598-32CED296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91125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Human Preference &amp; Elo</a:t>
            </a:r>
          </a:p>
        </p:txBody>
      </p:sp>
      <p:sp>
        <p:nvSpPr>
          <p:cNvPr id="9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FCB4DF6E-CDC3-447F-A67A-F135FD6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00725"/>
            <a:ext cx="4838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Blind UI comparisons against the cloud baseline. Report win rates and Elo-style rankings with confidence intervals.</a:t>
            </a:r>
          </a:p>
        </p:txBody>
      </p:sp>
      <p:sp>
        <p:nvSpPr>
          <p:cNvPr id="10" name="topic-number-3">
            <a:extLst xmlns:a="http://schemas.openxmlformats.org/drawingml/2006/main">
              <a:ext uri="{FF2B5EF4-FFF2-40B4-BE49-F238E27FC236}">
                <a16:creationId xmlns:a16="http://schemas.microsoft.com/office/drawing/2014/main" id="{EC800755-AD73-44B6-9380-0AC9419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A82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A82A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topic-heading-3">
            <a:extLst xmlns:a="http://schemas.openxmlformats.org/drawingml/2006/main">
              <a:ext uri="{FF2B5EF4-FFF2-40B4-BE49-F238E27FC236}">
                <a16:creationId xmlns:a16="http://schemas.microsoft.com/office/drawing/2014/main" id="{57ED920D-F18A-4AF8-AC47-92EA5E54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96150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Targeted Dataset Improvement</a:t>
            </a:r>
          </a:p>
        </p:txBody>
      </p:sp>
      <p:sp>
        <p:nvSpPr>
          <p:cNvPr id="12" name="topic-body-3">
            <a:extLst xmlns:a="http://schemas.openxmlformats.org/drawingml/2006/main">
              <a:ext uri="{FF2B5EF4-FFF2-40B4-BE49-F238E27FC236}">
                <a16:creationId xmlns:a16="http://schemas.microsoft.com/office/drawing/2014/main" id="{5CE2F5D3-1B6F-4AA7-A474-627E376A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05750"/>
            <a:ext cx="4838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Address recurring failures and difficult domains. Keep unseen tests separate from training and tuning.</a:t>
            </a:r>
          </a:p>
        </p:txBody>
      </p:sp>
      <p:sp>
        <p:nvSpPr>
          <p:cNvPr id="13" name="section-2">
            <a:extLst xmlns:a="http://schemas.openxmlformats.org/drawingml/2006/main">
              <a:ext uri="{FF2B5EF4-FFF2-40B4-BE49-F238E27FC236}">
                <a16:creationId xmlns:a16="http://schemas.microsoft.com/office/drawing/2014/main" id="{C98D17BE-7A1E-405A-859F-FC9DB6D7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33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460D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60DB"/>
                </a:solidFill>
                <a:latin typeface="Arial"/>
                <a:ea typeface="Arial"/>
                <a:cs typeface="Arial"/>
              </a:rPr>
              <a:t>Inference Efficiency</a:t>
            </a:r>
          </a:p>
        </p:txBody>
      </p:sp>
      <p:sp>
        <p:nvSpPr>
          <p:cNvPr id="14" name="section-rule-2">
            <a:extLst xmlns:a="http://schemas.openxmlformats.org/drawingml/2006/main">
              <a:ext uri="{FF2B5EF4-FFF2-40B4-BE49-F238E27FC236}">
                <a16:creationId xmlns:a16="http://schemas.microsoft.com/office/drawing/2014/main" id="{77D2BAD6-6071-4EB9-8C02-EEEDDB2A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0DB"/>
            </a:solidFill>
            <a:prstDash val="solid"/>
          </a:ln>
        </p:spPr>
      </p:sp>
      <p:sp>
        <p:nvSpPr>
          <p:cNvPr id="15" name="topic-number-4">
            <a:extLst xmlns:a="http://schemas.openxmlformats.org/drawingml/2006/main">
              <a:ext uri="{FF2B5EF4-FFF2-40B4-BE49-F238E27FC236}">
                <a16:creationId xmlns:a16="http://schemas.microsoft.com/office/drawing/2014/main" id="{D7538A9D-83FE-4F09-B305-42D2DFBD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A82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A82A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topic-heading-4">
            <a:extLst xmlns:a="http://schemas.openxmlformats.org/drawingml/2006/main">
              <a:ext uri="{FF2B5EF4-FFF2-40B4-BE49-F238E27FC236}">
                <a16:creationId xmlns:a16="http://schemas.microsoft.com/office/drawing/2014/main" id="{A8EB45B4-0979-4AC4-8BEA-36EA2F3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Generation &amp; UI Latency</a:t>
            </a:r>
          </a:p>
        </p:txBody>
      </p:sp>
      <p:sp>
        <p:nvSpPr>
          <p:cNvPr id="17" name="topic-body-4">
            <a:extLst xmlns:a="http://schemas.openxmlformats.org/drawingml/2006/main">
              <a:ext uri="{FF2B5EF4-FFF2-40B4-BE49-F238E27FC236}">
                <a16:creationId xmlns:a16="http://schemas.microsoft.com/office/drawing/2014/main" id="{10A49869-BC6A-4B61-B800-C927DA6C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95700"/>
            <a:ext cx="4838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Reduce time to first token and complete UI latency. Track tokens/second and P50/P95 latency.</a:t>
            </a:r>
          </a:p>
        </p:txBody>
      </p:sp>
      <p:sp>
        <p:nvSpPr>
          <p:cNvPr id="18" name="topic-number-5">
            <a:extLst xmlns:a="http://schemas.openxmlformats.org/drawingml/2006/main">
              <a:ext uri="{FF2B5EF4-FFF2-40B4-BE49-F238E27FC236}">
                <a16:creationId xmlns:a16="http://schemas.microsoft.com/office/drawing/2014/main" id="{3E8881CC-15DD-4812-A517-33D4E69C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A82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A82A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topic-heading-5">
            <a:extLst xmlns:a="http://schemas.openxmlformats.org/drawingml/2006/main">
              <a:ext uri="{FF2B5EF4-FFF2-40B4-BE49-F238E27FC236}">
                <a16:creationId xmlns:a16="http://schemas.microsoft.com/office/drawing/2014/main" id="{883A9DC4-E76F-4977-9C41-5BAA36B8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91125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MTP for Fine-Tuned E2B</a:t>
            </a:r>
          </a:p>
        </p:txBody>
      </p:sp>
      <p:sp>
        <p:nvSpPr>
          <p:cNvPr id="20" name="topic-body-5">
            <a:extLst xmlns:a="http://schemas.openxmlformats.org/drawingml/2006/main">
              <a:ext uri="{FF2B5EF4-FFF2-40B4-BE49-F238E27FC236}">
                <a16:creationId xmlns:a16="http://schemas.microsoft.com/office/drawing/2014/main" id="{75337283-A015-4439-81E1-7F332EC5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800725"/>
            <a:ext cx="4838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Validate target-assistant pairing and draft acceptance. Measure on-device speedup without quality regression.</a:t>
            </a:r>
          </a:p>
        </p:txBody>
      </p:sp>
      <p:sp>
        <p:nvSpPr>
          <p:cNvPr id="21" name="topic-number-6">
            <a:extLst xmlns:a="http://schemas.openxmlformats.org/drawingml/2006/main">
              <a:ext uri="{FF2B5EF4-FFF2-40B4-BE49-F238E27FC236}">
                <a16:creationId xmlns:a16="http://schemas.microsoft.com/office/drawing/2014/main" id="{5E824162-9DAE-4DD4-93E9-70265DF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3152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A82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A82A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topic-heading-6">
            <a:extLst xmlns:a="http://schemas.openxmlformats.org/drawingml/2006/main">
              <a:ext uri="{FF2B5EF4-FFF2-40B4-BE49-F238E27FC236}">
                <a16:creationId xmlns:a16="http://schemas.microsoft.com/office/drawing/2014/main" id="{074F7B3F-75E2-4E6B-B800-547C2C8C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296150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W4 / W8 Optimization</a:t>
            </a:r>
          </a:p>
        </p:txBody>
      </p:sp>
      <p:sp>
        <p:nvSpPr>
          <p:cNvPr id="23" name="topic-body-6">
            <a:extLst xmlns:a="http://schemas.openxmlformats.org/drawingml/2006/main">
              <a:ext uri="{FF2B5EF4-FFF2-40B4-BE49-F238E27FC236}">
                <a16:creationId xmlns:a16="http://schemas.microsoft.com/office/drawing/2014/main" id="{30F56C59-C448-4551-855A-AA75DA7B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905750"/>
            <a:ext cx="4838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Compare quality against the trained checkpoint. Balance model size, memory and inference speed.</a:t>
            </a:r>
          </a:p>
        </p:txBody>
      </p:sp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3D7E2818-E216-43B6-A427-231CDA12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1905000"/>
            <a:ext cx="533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5B2CB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B2CB9"/>
                </a:solidFill>
                <a:latin typeface="Arial"/>
                <a:ea typeface="Arial"/>
                <a:cs typeface="Arial"/>
              </a:rPr>
              <a:t>Deployment Readiness</a:t>
            </a:r>
          </a:p>
        </p:txBody>
      </p:sp>
      <p:sp>
        <p:nvSpPr>
          <p:cNvPr id="25" name="section-rule-3">
            <a:extLst xmlns:a="http://schemas.openxmlformats.org/drawingml/2006/main">
              <a:ext uri="{FF2B5EF4-FFF2-40B4-BE49-F238E27FC236}">
                <a16:creationId xmlns:a16="http://schemas.microsoft.com/office/drawing/2014/main" id="{93BA0FD0-7762-44CF-8D54-370DFF6F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571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2CB9"/>
            </a:solidFill>
            <a:prstDash val="solid"/>
          </a:ln>
        </p:spPr>
      </p:sp>
      <p:sp>
        <p:nvSpPr>
          <p:cNvPr id="26" name="topic-number-7">
            <a:extLst xmlns:a="http://schemas.openxmlformats.org/drawingml/2006/main">
              <a:ext uri="{FF2B5EF4-FFF2-40B4-BE49-F238E27FC236}">
                <a16:creationId xmlns:a16="http://schemas.microsoft.com/office/drawing/2014/main" id="{050A2836-D85E-4BD4-9487-71420163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05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A82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A82A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7" name="topic-heading-7">
            <a:extLst xmlns:a="http://schemas.openxmlformats.org/drawingml/2006/main">
              <a:ext uri="{FF2B5EF4-FFF2-40B4-BE49-F238E27FC236}">
                <a16:creationId xmlns:a16="http://schemas.microsoft.com/office/drawing/2014/main" id="{2891243F-62F1-4333-AB78-763811F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086100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Knowledge Distillation</a:t>
            </a:r>
          </a:p>
        </p:txBody>
      </p:sp>
      <p:sp>
        <p:nvSpPr>
          <p:cNvPr id="28" name="topic-body-7">
            <a:extLst xmlns:a="http://schemas.openxmlformats.org/drawingml/2006/main">
              <a:ext uri="{FF2B5EF4-FFF2-40B4-BE49-F238E27FC236}">
                <a16:creationId xmlns:a16="http://schemas.microsoft.com/office/drawing/2014/main" id="{743B264D-59D5-44A1-90D5-EAD9015D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695700"/>
            <a:ext cx="4838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Transfer stronger-model capabilities into Gemma 270M. Evaluate quality versus resource use.</a:t>
            </a:r>
          </a:p>
        </p:txBody>
      </p:sp>
      <p:sp>
        <p:nvSpPr>
          <p:cNvPr id="29" name="topic-number-8">
            <a:extLst xmlns:a="http://schemas.openxmlformats.org/drawingml/2006/main">
              <a:ext uri="{FF2B5EF4-FFF2-40B4-BE49-F238E27FC236}">
                <a16:creationId xmlns:a16="http://schemas.microsoft.com/office/drawing/2014/main" id="{C114DFC3-59DD-49E0-830A-338DE55F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21017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A82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A82A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0" name="topic-heading-8">
            <a:extLst xmlns:a="http://schemas.openxmlformats.org/drawingml/2006/main">
              <a:ext uri="{FF2B5EF4-FFF2-40B4-BE49-F238E27FC236}">
                <a16:creationId xmlns:a16="http://schemas.microsoft.com/office/drawing/2014/main" id="{2EBEC9A2-A92F-453B-88D4-25104C18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191125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On-Device Reliability</a:t>
            </a:r>
          </a:p>
        </p:txBody>
      </p:sp>
      <p:sp>
        <p:nvSpPr>
          <p:cNvPr id="31" name="topic-body-8">
            <a:extLst xmlns:a="http://schemas.openxmlformats.org/drawingml/2006/main">
              <a:ext uri="{FF2B5EF4-FFF2-40B4-BE49-F238E27FC236}">
                <a16:creationId xmlns:a16="http://schemas.microsoft.com/office/drawing/2014/main" id="{A9A02432-481F-4EA8-9568-5537DB41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800725"/>
            <a:ext cx="4838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Validate rendering and actions across devices. Measure sustained latency, memory, battery and thermals.</a:t>
            </a:r>
          </a:p>
        </p:txBody>
      </p:sp>
      <p:sp>
        <p:nvSpPr>
          <p:cNvPr id="32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3BADB5DE-8A6C-4B16-AD9B-498A381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DE8"/>
            </a:solidFill>
            <a:prstDash val="solid"/>
          </a:ln>
        </p:spPr>
      </p:sp>
      <p:sp>
        <p:nvSpPr>
          <p:cNvPr id="33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7B0E0031-012B-425F-A794-7A99C57F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86690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DE8"/>
            </a:solidFill>
            <a:prstDash val="solid"/>
          </a:ln>
        </p:spPr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0DDEDBB-EF07-4881-AD5A-2B374936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77375"/>
            <a:ext cx="1706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0E0"/>
            </a:solidFill>
            <a:prstDash val="solid"/>
          </a:ln>
        </p:spPr>
      </p:sp>
      <p:sp>
        <p:nvSpPr>
          <p:cNvPr id="35" name="baseline-reminder">
            <a:extLst xmlns:a="http://schemas.openxmlformats.org/drawingml/2006/main">
              <a:ext uri="{FF2B5EF4-FFF2-40B4-BE49-F238E27FC236}">
                <a16:creationId xmlns:a16="http://schemas.microsoft.com/office/drawing/2014/main" id="{93ED0A6B-971D-4682-840D-E77E6436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77400"/>
            <a:ext cx="1706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Measure the current baseline before setting numerical targets.</a:t>
            </a:r>
          </a:p>
        </p:txBody>
      </p:sp>
    </p:spTree>
    <p:extLst>
      <p:ext uri="{BB962C8B-B14F-4D97-AF65-F5344CB8AC3E}">
        <p14:creationId xmlns:p14="http://schemas.microsoft.com/office/powerpoint/2010/main" val="563610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2026-09-16T17:46:36.8040000Z</dcterms:created>
  <dcterms:modified xsi:type="dcterms:W3CDTF">2026-09-16T17:46:36.8040000Z</dcterms:modified>
</coreProperties>
</file>