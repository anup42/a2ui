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6c3674145466a" /><Relationship Type="http://schemas.openxmlformats.org/officeDocument/2006/relationships/extended-properties" Target="/docProps/app.xml" Id="R32401856c7b940e2" /><Relationship Type="http://schemas.openxmlformats.org/officeDocument/2006/relationships/officeDocument" Target="/ppt/presentation.xml" Id="R46c92f30105f4b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1000eaa1f414c"/>
  </p:sldMasterIdLst>
  <p:notesMasterIdLst>
    <p:notesMasterId xmlns:r="http://schemas.openxmlformats.org/officeDocument/2006/relationships" r:id="R0a7eb50e06e1454e"/>
  </p:notesMasterIdLst>
  <p:sldIdLst>
    <p:sldId xmlns:r="http://schemas.openxmlformats.org/officeDocument/2006/relationships" id="256" r:id="Ra0b73223483d49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1000eaa1f414c" /><Relationship Type="http://schemas.openxmlformats.org/officeDocument/2006/relationships/theme" Target="/ppt/theme/theme1.xml" Id="Rba977a7892344839" /><Relationship Type="http://schemas.openxmlformats.org/officeDocument/2006/relationships/notesMaster" Target="/ppt/notesMasters/notesMaster1.xml" Id="R0a7eb50e06e1454e" /><Relationship Type="http://schemas.openxmlformats.org/officeDocument/2006/relationships/presProps" Target="/ppt/presProps.xml" Id="R4a42722da1ca443a" /><Relationship Type="http://schemas.openxmlformats.org/officeDocument/2006/relationships/viewProps" Target="/ppt/viewProps.xml" Id="R5c65f66469cd43b9" /><Relationship Type="http://schemas.openxmlformats.org/officeDocument/2006/relationships/tableStyles" Target="/ppt/tableStyles.xml" Id="R6b26dca7bc504f02" /><Relationship Type="http://schemas.openxmlformats.org/officeDocument/2006/relationships/slide" Target="/ppt/slides/slide1.xml" Id="Ra0b73223483d49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91d1afddad74b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fe1fb104594cd8" /><Relationship Type="http://schemas.openxmlformats.org/officeDocument/2006/relationships/notesMaster" Target="/ppt/notesMasters/notesMaster1.xml" Id="R5345177dc06848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c8173dfbe48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cb183e6d4942bb" /><Relationship Type="http://schemas.openxmlformats.org/officeDocument/2006/relationships/slideLayout" Target="/ppt/slideLayouts/slideLayout2.xml" Id="Rb3aa6ccecb164b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a6ccecb164b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23fa8297f46e5" /><Relationship Type="http://schemas.openxmlformats.org/officeDocument/2006/relationships/notesSlide" Target="/ppt/notesSlides/notesSlide1.xml" Id="R9bb4a598e09748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D464177-0FDA-40BE-8163-3D1FA0C3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6E00AC-4852-4AC9-B202-B0D45BBC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76C70E-5070-4072-9C57-072E9641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A 2 U I   E X P R E S S   /   P R O G R E S S   S N A P S H O 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5E1510E-7AC9-434A-95EA-58BD317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02A32"/>
                </a:solidFill>
                <a:latin typeface="Georgia"/>
                <a:ea typeface="Georgia"/>
                <a:cs typeface="Georgia"/>
              </a:rPr>
              <a:t>The renderer now covers the full intent-to-output path.</a:t>
            </a:r>
          </a:p>
        </p:txBody>
      </p:sp>
      <p:sp>
        <p:nvSpPr>
          <p:cNvPr id="5" name="claim-subtitle">
            <a:extLst xmlns:a="http://schemas.openxmlformats.org/drawingml/2006/main">
              <a:ext uri="{FF2B5EF4-FFF2-40B4-BE49-F238E27FC236}">
                <a16:creationId xmlns:a16="http://schemas.microsoft.com/office/drawing/2014/main" id="{59184950-D57D-496A-85FE-5D948E7E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95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One contract now links native rendering, model training, export tooling, and measurable efficiency gains.</a:t>
            </a:r>
          </a:p>
        </p:txBody>
      </p:sp>
      <p:sp>
        <p:nvSpPr>
          <p:cNvPr id="6" name="hero-metric">
            <a:extLst xmlns:a="http://schemas.openxmlformats.org/drawingml/2006/main">
              <a:ext uri="{FF2B5EF4-FFF2-40B4-BE49-F238E27FC236}">
                <a16:creationId xmlns:a16="http://schemas.microsoft.com/office/drawing/2014/main" id="{B94E97F0-F28B-42D3-923D-4228052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720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hero-metric-value">
            <a:extLst xmlns:a="http://schemas.openxmlformats.org/drawingml/2006/main">
              <a:ext uri="{FF2B5EF4-FFF2-40B4-BE49-F238E27FC236}">
                <a16:creationId xmlns:a16="http://schemas.microsoft.com/office/drawing/2014/main" id="{204649BD-9AAF-4DC6-BC10-51C4461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9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32 / 32</a:t>
            </a:r>
          </a:p>
        </p:txBody>
      </p:sp>
      <p:sp>
        <p:nvSpPr>
          <p:cNvPr id="8" name="hero-metric-label">
            <a:extLst xmlns:a="http://schemas.openxmlformats.org/drawingml/2006/main">
              <a:ext uri="{FF2B5EF4-FFF2-40B4-BE49-F238E27FC236}">
                <a16:creationId xmlns:a16="http://schemas.microsoft.com/office/drawing/2014/main" id="{433A0127-7590-4D6B-A066-64BBEE7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028700"/>
            <a:ext cx="1638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DE9E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DE9E5"/>
                </a:solidFill>
                <a:latin typeface="Avenir Next"/>
                <a:ea typeface="Avenir Next"/>
                <a:cs typeface="Avenir Next"/>
              </a:rPr>
              <a:t>declared intents routed</a:t>
            </a:r>
          </a:p>
        </p:txBody>
      </p:sp>
      <p:sp>
        <p:nvSpPr>
          <p:cNvPr id="9" name="hero-metric-note">
            <a:extLst xmlns:a="http://schemas.openxmlformats.org/drawingml/2006/main">
              <a:ext uri="{FF2B5EF4-FFF2-40B4-BE49-F238E27FC236}">
                <a16:creationId xmlns:a16="http://schemas.microsoft.com/office/drawing/2014/main" id="{874ABE2F-9999-4515-AFAD-1BD25F14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209675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7D8CE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7D8CE"/>
                </a:solidFill>
                <a:latin typeface="Avenir Next"/>
                <a:ea typeface="Avenir Next"/>
                <a:cs typeface="Avenir Next"/>
              </a:rPr>
              <a:t>100% deterministic recipes</a:t>
            </a:r>
          </a:p>
        </p:txBody>
      </p:sp>
      <p:sp>
        <p:nvSpPr>
          <p:cNvPr id="10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19D7A3F-6964-4632-A460-19B4D905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91D62EA9-446C-46C0-8E6C-E9AE0058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FROM CONTRACT TO DEVICE</a:t>
            </a:r>
          </a:p>
        </p:txBody>
      </p:sp>
      <p:sp>
        <p:nvSpPr>
          <p:cNvPr id="12" name="stage-1-box">
            <a:extLst xmlns:a="http://schemas.openxmlformats.org/drawingml/2006/main">
              <a:ext uri="{FF2B5EF4-FFF2-40B4-BE49-F238E27FC236}">
                <a16:creationId xmlns:a16="http://schemas.microsoft.com/office/drawing/2014/main" id="{4AC79540-7695-435C-ADF3-D84A7DD9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952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0">
            <a:prstDash val="solid"/>
          </a:ln>
        </p:spPr>
      </p:sp>
      <p:sp>
        <p:nvSpPr>
          <p:cNvPr id="13" name="stage-1-marker">
            <a:extLst xmlns:a="http://schemas.openxmlformats.org/drawingml/2006/main">
              <a:ext uri="{FF2B5EF4-FFF2-40B4-BE49-F238E27FC236}">
                <a16:creationId xmlns:a16="http://schemas.microsoft.com/office/drawing/2014/main" id="{05638BEA-C9CA-476C-9731-CBE5C98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184F3EDC-C521-41F9-BE4C-184D6E6F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56123A5B-573E-46E2-BB85-78169B66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Train</a:t>
            </a:r>
          </a:p>
        </p:txBody>
      </p:sp>
      <p:sp>
        <p:nvSpPr>
          <p:cNvPr id="16" name="stage-1-sub">
            <a:extLst xmlns:a="http://schemas.openxmlformats.org/drawingml/2006/main">
              <a:ext uri="{FF2B5EF4-FFF2-40B4-BE49-F238E27FC236}">
                <a16:creationId xmlns:a16="http://schemas.microsoft.com/office/drawing/2014/main" id="{77459341-F723-4533-BC41-140510D6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Express-only targets</a:t>
            </a:r>
          </a:p>
        </p:txBody>
      </p:sp>
      <p:sp>
        <p:nvSpPr>
          <p:cNvPr id="17" name="stage-2-box">
            <a:extLst xmlns:a="http://schemas.openxmlformats.org/drawingml/2006/main">
              <a:ext uri="{FF2B5EF4-FFF2-40B4-BE49-F238E27FC236}">
                <a16:creationId xmlns:a16="http://schemas.microsoft.com/office/drawing/2014/main" id="{604AC235-C61C-410E-B89A-622ED151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57375"/>
            <a:ext cx="1952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0">
            <a:prstDash val="solid"/>
          </a:ln>
        </p:spPr>
      </p:sp>
      <p:sp>
        <p:nvSpPr>
          <p:cNvPr id="18" name="stage-2-marker">
            <a:extLst xmlns:a="http://schemas.openxmlformats.org/drawingml/2006/main">
              <a:ext uri="{FF2B5EF4-FFF2-40B4-BE49-F238E27FC236}">
                <a16:creationId xmlns:a16="http://schemas.microsoft.com/office/drawing/2014/main" id="{9E1C9081-BFB8-4E3A-A645-F4C5FB5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09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F4EC9975-ABCA-473F-8685-79DF683E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8F22F978-8656-4AF3-95B4-3C6AD56B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71675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Export</a:t>
            </a:r>
          </a:p>
        </p:txBody>
      </p:sp>
      <p:sp>
        <p:nvSpPr>
          <p:cNvPr id="21" name="stage-2-sub">
            <a:extLst xmlns:a="http://schemas.openxmlformats.org/drawingml/2006/main">
              <a:ext uri="{FF2B5EF4-FFF2-40B4-BE49-F238E27FC236}">
                <a16:creationId xmlns:a16="http://schemas.microsoft.com/office/drawing/2014/main" id="{9F6E0B4A-47C1-4885-8111-94174E5C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merge + package</a:t>
            </a:r>
          </a:p>
        </p:txBody>
      </p:sp>
      <p:sp>
        <p:nvSpPr>
          <p:cNvPr id="22" name="stage-3-box">
            <a:extLst xmlns:a="http://schemas.openxmlformats.org/drawingml/2006/main">
              <a:ext uri="{FF2B5EF4-FFF2-40B4-BE49-F238E27FC236}">
                <a16:creationId xmlns:a16="http://schemas.microsoft.com/office/drawing/2014/main" id="{405F9C2E-8E14-470E-8835-F36BAE8F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57375"/>
            <a:ext cx="1952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0">
            <a:prstDash val="solid"/>
          </a:ln>
        </p:spPr>
      </p:sp>
      <p:sp>
        <p:nvSpPr>
          <p:cNvPr id="23" name="stage-3-marker">
            <a:extLst xmlns:a="http://schemas.openxmlformats.org/drawingml/2006/main">
              <a:ext uri="{FF2B5EF4-FFF2-40B4-BE49-F238E27FC236}">
                <a16:creationId xmlns:a16="http://schemas.microsoft.com/office/drawing/2014/main" id="{2E2CD7B6-2071-4321-A2F8-218730C4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9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05882524-1377-4BFD-BFE3-91BBC59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E5B4F84F-4A91-407A-8655-41EF2C82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Validate</a:t>
            </a:r>
          </a:p>
        </p:txBody>
      </p:sp>
      <p:sp>
        <p:nvSpPr>
          <p:cNvPr id="26" name="stage-3-sub">
            <a:extLst xmlns:a="http://schemas.openxmlformats.org/drawingml/2006/main">
              <a:ext uri="{FF2B5EF4-FFF2-40B4-BE49-F238E27FC236}">
                <a16:creationId xmlns:a16="http://schemas.microsoft.com/office/drawing/2014/main" id="{56FA75AC-8FF8-4236-BE29-46F9AEC0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71700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metrics + gates</a:t>
            </a:r>
          </a:p>
        </p:txBody>
      </p:sp>
      <p:sp>
        <p:nvSpPr>
          <p:cNvPr id="27" name="stage-4-box">
            <a:extLst xmlns:a="http://schemas.openxmlformats.org/drawingml/2006/main">
              <a:ext uri="{FF2B5EF4-FFF2-40B4-BE49-F238E27FC236}">
                <a16:creationId xmlns:a16="http://schemas.microsoft.com/office/drawing/2014/main" id="{93F9411F-A0B1-4FDD-836A-58317D2E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57375"/>
            <a:ext cx="1952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0">
            <a:prstDash val="solid"/>
          </a:ln>
        </p:spPr>
      </p:sp>
      <p:sp>
        <p:nvSpPr>
          <p:cNvPr id="28" name="stage-4-marker">
            <a:extLst xmlns:a="http://schemas.openxmlformats.org/drawingml/2006/main">
              <a:ext uri="{FF2B5EF4-FFF2-40B4-BE49-F238E27FC236}">
                <a16:creationId xmlns:a16="http://schemas.microsoft.com/office/drawing/2014/main" id="{EB0F5A25-3902-4926-AD93-9B287315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6ABC010B-2936-4737-B550-DFAB3E35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EF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4C8706F8-9311-41DB-8A7C-661EC197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71675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Render</a:t>
            </a:r>
          </a:p>
        </p:txBody>
      </p:sp>
      <p:sp>
        <p:nvSpPr>
          <p:cNvPr id="31" name="stage-4-sub">
            <a:extLst xmlns:a="http://schemas.openxmlformats.org/drawingml/2006/main">
              <a:ext uri="{FF2B5EF4-FFF2-40B4-BE49-F238E27FC236}">
                <a16:creationId xmlns:a16="http://schemas.microsoft.com/office/drawing/2014/main" id="{C9F0DDF0-9980-4250-9BAD-5949607F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native Android</a:t>
            </a:r>
          </a:p>
        </p:txBody>
      </p:sp>
      <p:sp>
        <p:nvSpPr>
          <p:cNvPr id="32" name="flow-connector-1">
            <a:extLst xmlns:a="http://schemas.openxmlformats.org/drawingml/2006/main">
              <a:ext uri="{FF2B5EF4-FFF2-40B4-BE49-F238E27FC236}">
                <a16:creationId xmlns:a16="http://schemas.microsoft.com/office/drawing/2014/main" id="{61775F08-9CA7-4F2A-AA90-72011D8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145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low-connector-2">
            <a:extLst xmlns:a="http://schemas.openxmlformats.org/drawingml/2006/main">
              <a:ext uri="{FF2B5EF4-FFF2-40B4-BE49-F238E27FC236}">
                <a16:creationId xmlns:a16="http://schemas.microsoft.com/office/drawing/2014/main" id="{3D2C28CE-3721-467E-BBD2-3BE9899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145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low-connector-3">
            <a:extLst xmlns:a="http://schemas.openxmlformats.org/drawingml/2006/main">
              <a:ext uri="{FF2B5EF4-FFF2-40B4-BE49-F238E27FC236}">
                <a16:creationId xmlns:a16="http://schemas.microsoft.com/office/drawing/2014/main" id="{E15CB6E3-3954-4580-841E-BDC30E94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145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capability-rail">
            <a:extLst xmlns:a="http://schemas.openxmlformats.org/drawingml/2006/main">
              <a:ext uri="{FF2B5EF4-FFF2-40B4-BE49-F238E27FC236}">
                <a16:creationId xmlns:a16="http://schemas.microsoft.com/office/drawing/2014/main" id="{2EBD41AE-5320-4AED-A9C9-4ADC7BFD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9ECE8"/>
          </a:solidFill>
          <a:ln xmlns:a="http://schemas.openxmlformats.org/drawingml/2006/main" w="0">
            <a:prstDash val="solid"/>
          </a:ln>
        </p:spPr>
      </p:sp>
      <p:sp>
        <p:nvSpPr>
          <p:cNvPr id="36" name="rail-kicker">
            <a:extLst xmlns:a="http://schemas.openxmlformats.org/drawingml/2006/main">
              <a:ext uri="{FF2B5EF4-FFF2-40B4-BE49-F238E27FC236}">
                <a16:creationId xmlns:a16="http://schemas.microsoft.com/office/drawing/2014/main" id="{3CFE09E1-4394-4F62-9482-87C91527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CAPABILITY BASE</a:t>
            </a:r>
          </a:p>
        </p:txBody>
      </p:sp>
      <p:sp>
        <p:nvSpPr>
          <p:cNvPr id="37" name="rail-value-1">
            <a:extLst xmlns:a="http://schemas.openxmlformats.org/drawingml/2006/main">
              <a:ext uri="{FF2B5EF4-FFF2-40B4-BE49-F238E27FC236}">
                <a16:creationId xmlns:a16="http://schemas.microsoft.com/office/drawing/2014/main" id="{8236A8D8-F3FC-4412-A364-CC5A1BB0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38" name="rail-label-1">
            <a:extLst xmlns:a="http://schemas.openxmlformats.org/drawingml/2006/main">
              <a:ext uri="{FF2B5EF4-FFF2-40B4-BE49-F238E27FC236}">
                <a16:creationId xmlns:a16="http://schemas.microsoft.com/office/drawing/2014/main" id="{843331B6-A6C4-4486-A86C-1C8F6FCF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242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renderer types</a:t>
            </a:r>
          </a:p>
        </p:txBody>
      </p:sp>
      <p:sp>
        <p:nvSpPr>
          <p:cNvPr id="39" name="rail-rule-1">
            <a:extLst xmlns:a="http://schemas.openxmlformats.org/drawingml/2006/main">
              <a:ext uri="{FF2B5EF4-FFF2-40B4-BE49-F238E27FC236}">
                <a16:creationId xmlns:a16="http://schemas.microsoft.com/office/drawing/2014/main" id="{791AF567-833C-4789-A6EB-EFEDC5A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ail-value-2">
            <a:extLst xmlns:a="http://schemas.openxmlformats.org/drawingml/2006/main">
              <a:ext uri="{FF2B5EF4-FFF2-40B4-BE49-F238E27FC236}">
                <a16:creationId xmlns:a16="http://schemas.microsoft.com/office/drawing/2014/main" id="{D31E2E65-997A-469D-89B5-01590181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41" name="rail-label-2">
            <a:extLst xmlns:a="http://schemas.openxmlformats.org/drawingml/2006/main">
              <a:ext uri="{FF2B5EF4-FFF2-40B4-BE49-F238E27FC236}">
                <a16:creationId xmlns:a16="http://schemas.microsoft.com/office/drawing/2014/main" id="{C93F99FC-DEE1-49AB-91E0-3B77FAB9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957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table domains</a:t>
            </a:r>
          </a:p>
        </p:txBody>
      </p:sp>
      <p:sp>
        <p:nvSpPr>
          <p:cNvPr id="42" name="rail-rule-2">
            <a:extLst xmlns:a="http://schemas.openxmlformats.org/drawingml/2006/main">
              <a:ext uri="{FF2B5EF4-FFF2-40B4-BE49-F238E27FC236}">
                <a16:creationId xmlns:a16="http://schemas.microsoft.com/office/drawing/2014/main" id="{1624EE0A-9725-4A96-B791-66FAEA8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ail-value-3">
            <a:extLst xmlns:a="http://schemas.openxmlformats.org/drawingml/2006/main">
              <a:ext uri="{FF2B5EF4-FFF2-40B4-BE49-F238E27FC236}">
                <a16:creationId xmlns:a16="http://schemas.microsoft.com/office/drawing/2014/main" id="{1F909781-4304-46EA-BA60-97A2C741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6 + 2</a:t>
            </a:r>
          </a:p>
        </p:txBody>
      </p:sp>
      <p:sp>
        <p:nvSpPr>
          <p:cNvPr id="44" name="rail-label-3">
            <a:extLst xmlns:a="http://schemas.openxmlformats.org/drawingml/2006/main">
              <a:ext uri="{FF2B5EF4-FFF2-40B4-BE49-F238E27FC236}">
                <a16:creationId xmlns:a16="http://schemas.microsoft.com/office/drawing/2014/main" id="{B8437C08-5041-4461-9E81-15515BF2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577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actions + chart types</a:t>
            </a:r>
          </a:p>
        </p:txBody>
      </p:sp>
      <p:sp>
        <p:nvSpPr>
          <p:cNvPr id="45" name="rail-note">
            <a:extLst xmlns:a="http://schemas.openxmlformats.org/drawingml/2006/main">
              <a:ext uri="{FF2B5EF4-FFF2-40B4-BE49-F238E27FC236}">
                <a16:creationId xmlns:a16="http://schemas.microsoft.com/office/drawing/2014/main" id="{D7B9CFCE-C8A0-41AD-884A-7BCAC9A1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Live-data/tool availability is tracked separately from renderer support.</a:t>
            </a:r>
          </a:p>
        </p:txBody>
      </p:sp>
      <p:sp>
        <p:nvSpPr>
          <p:cNvPr id="46" name="bullets-kicker">
            <a:extLst xmlns:a="http://schemas.openxmlformats.org/drawingml/2006/main">
              <a:ext uri="{FF2B5EF4-FFF2-40B4-BE49-F238E27FC236}">
                <a16:creationId xmlns:a16="http://schemas.microsoft.com/office/drawing/2014/main" id="{EAC9B6B5-61ED-4A0A-AEC3-50FAA580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860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WHAT CHANGED</a:t>
            </a:r>
          </a:p>
        </p:txBody>
      </p:sp>
      <p:sp>
        <p:nvSpPr>
          <p:cNvPr id="47" name="bullet-1-marker">
            <a:extLst xmlns:a="http://schemas.openxmlformats.org/drawingml/2006/main">
              <a:ext uri="{FF2B5EF4-FFF2-40B4-BE49-F238E27FC236}">
                <a16:creationId xmlns:a16="http://schemas.microsoft.com/office/drawing/2014/main" id="{10987FCC-7AA4-4655-B82A-E23A86FA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bullet-1-number">
            <a:extLst xmlns:a="http://schemas.openxmlformats.org/drawingml/2006/main">
              <a:ext uri="{FF2B5EF4-FFF2-40B4-BE49-F238E27FC236}">
                <a16:creationId xmlns:a16="http://schemas.microsoft.com/office/drawing/2014/main" id="{D15817C9-9305-450E-A2A6-5FE8518B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9" name="bullet-1-label">
            <a:extLst xmlns:a="http://schemas.openxmlformats.org/drawingml/2006/main">
              <a:ext uri="{FF2B5EF4-FFF2-40B4-BE49-F238E27FC236}">
                <a16:creationId xmlns:a16="http://schemas.microsoft.com/office/drawing/2014/main" id="{BC2D5100-0BEB-4F69-BB85-B62AB430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622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RENDERER</a:t>
            </a:r>
          </a:p>
        </p:txBody>
      </p:sp>
      <p:sp>
        <p:nvSpPr>
          <p:cNvPr id="50" name="bullet-1-copy">
            <a:extLst xmlns:a="http://schemas.openxmlformats.org/drawingml/2006/main">
              <a:ext uri="{FF2B5EF4-FFF2-40B4-BE49-F238E27FC236}">
                <a16:creationId xmlns:a16="http://schemas.microsoft.com/office/drawing/2014/main" id="{213646F4-0F43-47E5-B243-54CD39B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52775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25 components • 12 domains • deterministic routes for all 32 intents.</a:t>
            </a:r>
          </a:p>
        </p:txBody>
      </p:sp>
      <p:sp>
        <p:nvSpPr>
          <p:cNvPr id="51" name="bullet-1-rule">
            <a:extLst xmlns:a="http://schemas.openxmlformats.org/drawingml/2006/main">
              <a:ext uri="{FF2B5EF4-FFF2-40B4-BE49-F238E27FC236}">
                <a16:creationId xmlns:a16="http://schemas.microsoft.com/office/drawing/2014/main" id="{55F556AF-E2A6-4F1A-BDFA-7134EE19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bullet-2-marker">
            <a:extLst xmlns:a="http://schemas.openxmlformats.org/drawingml/2006/main">
              <a:ext uri="{FF2B5EF4-FFF2-40B4-BE49-F238E27FC236}">
                <a16:creationId xmlns:a16="http://schemas.microsoft.com/office/drawing/2014/main" id="{C76AD234-108A-4B71-BCE7-0804A52B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95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bullet-2-number">
            <a:extLst xmlns:a="http://schemas.openxmlformats.org/drawingml/2006/main">
              <a:ext uri="{FF2B5EF4-FFF2-40B4-BE49-F238E27FC236}">
                <a16:creationId xmlns:a16="http://schemas.microsoft.com/office/drawing/2014/main" id="{79D6CFAB-41F4-49EC-ACFA-F182DA06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81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B4B8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B4B8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4" name="bullet-2-label">
            <a:extLst xmlns:a="http://schemas.openxmlformats.org/drawingml/2006/main">
              <a:ext uri="{FF2B5EF4-FFF2-40B4-BE49-F238E27FC236}">
                <a16:creationId xmlns:a16="http://schemas.microsoft.com/office/drawing/2014/main" id="{E62FA4C2-0DA9-414B-B14F-DCBA62B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4B8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B4B8A"/>
                </a:solidFill>
                <a:latin typeface="Avenir Next"/>
                <a:ea typeface="Avenir Next"/>
                <a:cs typeface="Avenir Next"/>
              </a:rPr>
              <a:t>TRAINING</a:t>
            </a:r>
          </a:p>
        </p:txBody>
      </p:sp>
      <p:sp>
        <p:nvSpPr>
          <p:cNvPr id="55" name="bullet-2-copy">
            <a:extLst xmlns:a="http://schemas.openxmlformats.org/drawingml/2006/main">
              <a:ext uri="{FF2B5EF4-FFF2-40B4-BE49-F238E27FC236}">
                <a16:creationId xmlns:a16="http://schemas.microsoft.com/office/drawing/2014/main" id="{FE6958A5-A12E-4866-A9DD-9D3AB468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8620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Express-only SFT / GRPO / DPO pipeline • Gemma 4 E2B QAT-derived LoRA + MTP evaluation.</a:t>
            </a:r>
          </a:p>
        </p:txBody>
      </p:sp>
      <p:sp>
        <p:nvSpPr>
          <p:cNvPr id="56" name="bullet-2-rule">
            <a:extLst xmlns:a="http://schemas.openxmlformats.org/drawingml/2006/main">
              <a:ext uri="{FF2B5EF4-FFF2-40B4-BE49-F238E27FC236}">
                <a16:creationId xmlns:a16="http://schemas.microsoft.com/office/drawing/2014/main" id="{CFB8579B-6E16-4812-B9DE-2472000C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bullet-3-marker">
            <a:extLst xmlns:a="http://schemas.openxmlformats.org/drawingml/2006/main">
              <a:ext uri="{FF2B5EF4-FFF2-40B4-BE49-F238E27FC236}">
                <a16:creationId xmlns:a16="http://schemas.microsoft.com/office/drawing/2014/main" id="{F925C143-2B18-4A80-B5FA-175E2FE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29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1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bullet-3-number">
            <a:extLst xmlns:a="http://schemas.openxmlformats.org/drawingml/2006/main">
              <a:ext uri="{FF2B5EF4-FFF2-40B4-BE49-F238E27FC236}">
                <a16:creationId xmlns:a16="http://schemas.microsoft.com/office/drawing/2014/main" id="{CB43A819-C1CA-44A9-86A6-9BF2F5BA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14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47F2C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C47F2C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9" name="bullet-3-label">
            <a:extLst xmlns:a="http://schemas.openxmlformats.org/drawingml/2006/main">
              <a:ext uri="{FF2B5EF4-FFF2-40B4-BE49-F238E27FC236}">
                <a16:creationId xmlns:a16="http://schemas.microsoft.com/office/drawing/2014/main" id="{60CD3486-9B24-4713-A6C9-BF81EE6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47F2C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C47F2C"/>
                </a:solidFill>
                <a:latin typeface="Avenir Next"/>
                <a:ea typeface="Avenir Next"/>
                <a:cs typeface="Avenir Next"/>
              </a:rPr>
              <a:t>MODEL EXPORT</a:t>
            </a:r>
          </a:p>
        </p:txBody>
      </p:sp>
      <p:sp>
        <p:nvSpPr>
          <p:cNvPr id="60" name="bullet-3-copy">
            <a:extLst xmlns:a="http://schemas.openxmlformats.org/drawingml/2006/main">
              <a:ext uri="{FF2B5EF4-FFF2-40B4-BE49-F238E27FC236}">
                <a16:creationId xmlns:a16="http://schemas.microsoft.com/office/drawing/2014/main" id="{1A75901E-E514-444A-A0C1-D35903A6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LoRA merge → Q4_0 / LiteRT-LM conversion → manifests + Android packaging.</a:t>
            </a:r>
          </a:p>
        </p:txBody>
      </p:sp>
      <p:sp>
        <p:nvSpPr>
          <p:cNvPr id="61" name="bullet-3-rule">
            <a:extLst xmlns:a="http://schemas.openxmlformats.org/drawingml/2006/main">
              <a:ext uri="{FF2B5EF4-FFF2-40B4-BE49-F238E27FC236}">
                <a16:creationId xmlns:a16="http://schemas.microsoft.com/office/drawing/2014/main" id="{855871DF-BA44-444B-9BF0-E9FB9034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bullet-4-marker">
            <a:extLst xmlns:a="http://schemas.openxmlformats.org/drawingml/2006/main">
              <a:ext uri="{FF2B5EF4-FFF2-40B4-BE49-F238E27FC236}">
                <a16:creationId xmlns:a16="http://schemas.microsoft.com/office/drawing/2014/main" id="{EB430674-2068-4CBE-AD1B-EE3FE019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62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bullet-4-number">
            <a:extLst xmlns:a="http://schemas.openxmlformats.org/drawingml/2006/main">
              <a:ext uri="{FF2B5EF4-FFF2-40B4-BE49-F238E27FC236}">
                <a16:creationId xmlns:a16="http://schemas.microsoft.com/office/drawing/2014/main" id="{3146DFD4-B220-4276-A414-ACE0C14F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48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4B4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94B4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64" name="bullet-4-label">
            <a:extLst xmlns:a="http://schemas.openxmlformats.org/drawingml/2006/main">
              <a:ext uri="{FF2B5EF4-FFF2-40B4-BE49-F238E27FC236}">
                <a16:creationId xmlns:a16="http://schemas.microsoft.com/office/drawing/2014/main" id="{C121E9CF-871D-4413-AD73-2421769B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625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4B4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94B4B"/>
                </a:solidFill>
                <a:latin typeface="Avenir Next"/>
                <a:ea typeface="Avenir Next"/>
                <a:cs typeface="Avenir Next"/>
              </a:rPr>
              <a:t>METRIC IMPROVEMENT</a:t>
            </a:r>
          </a:p>
        </p:txBody>
      </p:sp>
      <p:sp>
        <p:nvSpPr>
          <p:cNvPr id="65" name="bullet-4-copy">
            <a:extLst xmlns:a="http://schemas.openxmlformats.org/drawingml/2006/main">
              <a:ext uri="{FF2B5EF4-FFF2-40B4-BE49-F238E27FC236}">
                <a16:creationId xmlns:a16="http://schemas.microsoft.com/office/drawing/2014/main" id="{FD4D95EB-FF09-4C9C-B9D4-34E6700F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32/32 round-trips • 41.47% lower mean lexical-token usage vs FlatSpec*.</a:t>
            </a:r>
          </a:p>
        </p:txBody>
      </p:sp>
      <p:sp>
        <p:nvSpPr>
          <p:cNvPr id="66" name="bullet-4-rule">
            <a:extLst xmlns:a="http://schemas.openxmlformats.org/drawingml/2006/main">
              <a:ext uri="{FF2B5EF4-FFF2-40B4-BE49-F238E27FC236}">
                <a16:creationId xmlns:a16="http://schemas.microsoft.com/office/drawing/2014/main" id="{A2FC6DB4-C2EC-425A-BC03-2A5C6128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0547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B6CE1C-4D85-4807-A78E-659D0BF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footnote">
            <a:extLst xmlns:a="http://schemas.openxmlformats.org/drawingml/2006/main">
              <a:ext uri="{FF2B5EF4-FFF2-40B4-BE49-F238E27FC236}">
                <a16:creationId xmlns:a16="http://schemas.microsoft.com/office/drawing/2014/main" id="{20DCBFDC-6B1B-4206-8A1D-97EA446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810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* Deterministic lexical-token diagnostic; exact deployed Gemma tokenizer and final device export validation remain gated.</a:t>
            </a:r>
          </a:p>
        </p:txBody>
      </p:sp>
      <p:sp>
        <p:nvSpPr>
          <p:cNvPr id="69" name="footer-mark">
            <a:extLst xmlns:a="http://schemas.openxmlformats.org/drawingml/2006/main">
              <a:ext uri="{FF2B5EF4-FFF2-40B4-BE49-F238E27FC236}">
                <a16:creationId xmlns:a16="http://schemas.microsoft.com/office/drawing/2014/main" id="{DB40D603-A7AE-47CE-8215-EA46508B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19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A2UI EXPRESS  ·  AUG 2026</a:t>
            </a:r>
          </a:p>
        </p:txBody>
      </p:sp>
    </p:spTree>
    <p:extLst>
      <p:ext uri="{BB962C8B-B14F-4D97-AF65-F5344CB8AC3E}">
        <p14:creationId xmlns:p14="http://schemas.microsoft.com/office/powerpoint/2010/main" val="1543997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2026-08-04T20:25:27.3150000Z</dcterms:created>
  <dcterms:modified xsi:type="dcterms:W3CDTF">2026-08-04T20:25:27.3150000Z</dcterms:modified>
</coreProperties>
</file>