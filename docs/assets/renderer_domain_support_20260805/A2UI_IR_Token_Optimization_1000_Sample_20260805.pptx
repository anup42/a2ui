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151fae3054432c" /><Relationship Type="http://schemas.openxmlformats.org/officeDocument/2006/relationships/extended-properties" Target="/docProps/app.xml" Id="Re5d22474509e448b" /><Relationship Type="http://schemas.openxmlformats.org/officeDocument/2006/relationships/officeDocument" Target="/ppt/presentation.xml" Id="R31ebcc982e63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a35d097c14e67"/>
  </p:sldMasterIdLst>
  <p:notesMasterIdLst>
    <p:notesMasterId xmlns:r="http://schemas.openxmlformats.org/officeDocument/2006/relationships" r:id="R0e5f5453a3d54d77"/>
  </p:notesMasterIdLst>
  <p:sldIdLst>
    <p:sldId xmlns:r="http://schemas.openxmlformats.org/officeDocument/2006/relationships" id="256" r:id="R843c089151df42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a35d097c14e67" /><Relationship Type="http://schemas.openxmlformats.org/officeDocument/2006/relationships/theme" Target="/ppt/theme/theme1.xml" Id="R0881fc675e614ed6" /><Relationship Type="http://schemas.openxmlformats.org/officeDocument/2006/relationships/notesMaster" Target="/ppt/notesMasters/notesMaster1.xml" Id="R0e5f5453a3d54d77" /><Relationship Type="http://schemas.openxmlformats.org/officeDocument/2006/relationships/presProps" Target="/ppt/presProps.xml" Id="Rc785827f15244560" /><Relationship Type="http://schemas.openxmlformats.org/officeDocument/2006/relationships/viewProps" Target="/ppt/viewProps.xml" Id="R0f3d235ba85c432e" /><Relationship Type="http://schemas.openxmlformats.org/officeDocument/2006/relationships/tableStyles" Target="/ppt/tableStyles.xml" Id="Raaabc2d7ff734078" /><Relationship Type="http://schemas.openxmlformats.org/officeDocument/2006/relationships/slide" Target="/ppt/slides/slide1.xml" Id="R843c089151df42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eac91b5e114c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4e5959f6f44964" /><Relationship Type="http://schemas.openxmlformats.org/officeDocument/2006/relationships/notesMaster" Target="/ppt/notesMasters/notesMaster1.xml" Id="R9cbcac6a45b1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6f26be6ce4d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a115c8ede34c86" /><Relationship Type="http://schemas.openxmlformats.org/officeDocument/2006/relationships/slideLayout" Target="/ppt/slideLayouts/slideLayout2.xml" Id="R0b924612217b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924612217b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c85126bde545d7" /><Relationship Type="http://schemas.openxmlformats.org/officeDocument/2006/relationships/notesSlide" Target="/ppt/notesSlides/notesSlide1.xml" Id="R735f38f80c0241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5FD060E-BD66-41C9-BD39-ACACFFE6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39E845B-E5C3-4C02-AA24-ED97EB77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1973EF-17FA-488C-9182-94504F3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A 2 U I   E X P R E S S   /   T O K E N   O P T I M I Z A T I O 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3DF53C5-4B49-4C9D-9F7E-56BAF83C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334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A32"/>
                </a:solidFill>
                <a:latin typeface="Georgia"/>
                <a:ea typeface="Georgia"/>
                <a:cs typeface="Georgia"/>
              </a:rPr>
              <a:t>A2UI Express cuts the IR footprint almost in half.</a:t>
            </a:r>
          </a:p>
        </p:txBody>
      </p:sp>
      <p:sp>
        <p:nvSpPr>
          <p:cNvPr id="5" name="claim-subtitle">
            <a:extLst xmlns:a="http://schemas.openxmlformats.org/drawingml/2006/main">
              <a:ext uri="{FF2B5EF4-FFF2-40B4-BE49-F238E27FC236}">
                <a16:creationId xmlns:a16="http://schemas.microsoft.com/office/drawing/2014/main" id="{566F5C2A-12CC-486F-BE78-9EE68247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Same canonical UI meaning, serialized with a materially smaller token budget.</a:t>
            </a:r>
          </a:p>
        </p:txBody>
      </p:sp>
      <p:sp>
        <p:nvSpPr>
          <p:cNvPr id="6" name="hero-savings">
            <a:extLst xmlns:a="http://schemas.openxmlformats.org/drawingml/2006/main">
              <a:ext uri="{FF2B5EF4-FFF2-40B4-BE49-F238E27FC236}">
                <a16:creationId xmlns:a16="http://schemas.microsoft.com/office/drawing/2014/main" id="{02D05D53-CB71-46BF-8046-5EE0A2E7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7200"/>
            <a:ext cx="2057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hero-savings-value">
            <a:extLst xmlns:a="http://schemas.openxmlformats.org/drawingml/2006/main">
              <a:ext uri="{FF2B5EF4-FFF2-40B4-BE49-F238E27FC236}">
                <a16:creationId xmlns:a16="http://schemas.microsoft.com/office/drawing/2014/main" id="{A10C662A-6F3C-4EAB-96D4-2AAF8763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90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49.2%</a:t>
            </a:r>
          </a:p>
        </p:txBody>
      </p:sp>
      <p:sp>
        <p:nvSpPr>
          <p:cNvPr id="8" name="hero-savings-label">
            <a:extLst xmlns:a="http://schemas.openxmlformats.org/drawingml/2006/main">
              <a:ext uri="{FF2B5EF4-FFF2-40B4-BE49-F238E27FC236}">
                <a16:creationId xmlns:a16="http://schemas.microsoft.com/office/drawing/2014/main" id="{85AB0CDB-60AF-4C10-8EDC-A0D3439C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0096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DE9E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DDE9E5"/>
                </a:solidFill>
                <a:latin typeface="Avenir Next"/>
                <a:ea typeface="Avenir Next"/>
                <a:cs typeface="Avenir Next"/>
              </a:rPr>
              <a:t>mean token reduction</a:t>
            </a:r>
          </a:p>
        </p:txBody>
      </p:sp>
      <p:sp>
        <p:nvSpPr>
          <p:cNvPr id="9" name="hero-savings-note">
            <a:extLst xmlns:a="http://schemas.openxmlformats.org/drawingml/2006/main">
              <a:ext uri="{FF2B5EF4-FFF2-40B4-BE49-F238E27FC236}">
                <a16:creationId xmlns:a16="http://schemas.microsoft.com/office/drawing/2014/main" id="{4F81773D-B15A-49B7-9085-2494D76E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209675"/>
            <a:ext cx="1657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7D8CE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7D8CE"/>
                </a:solidFill>
                <a:latin typeface="Avenir Next"/>
                <a:ea typeface="Avenir Next"/>
                <a:cs typeface="Avenir Next"/>
              </a:rPr>
              <a:t>625.8 fewer tokens / sample</a:t>
            </a:r>
          </a:p>
        </p:txBody>
      </p:sp>
      <p:sp>
        <p:nvSpPr>
          <p:cNvPr id="10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A941EBE-FF2E-46C5-B2EF-6FAE7086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hart-kicker">
            <a:extLst xmlns:a="http://schemas.openxmlformats.org/drawingml/2006/main">
              <a:ext uri="{FF2B5EF4-FFF2-40B4-BE49-F238E27FC236}">
                <a16:creationId xmlns:a16="http://schemas.microsoft.com/office/drawing/2014/main" id="{8A6D54FB-EECB-482B-84CB-1AB64C12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AVERAGE TOKENS / SAMPLE</a:t>
            </a:r>
          </a:p>
        </p:txBody>
      </p:sp>
      <p:sp>
        <p:nvSpPr>
          <p:cNvPr id="12" name="chart-note">
            <a:extLst xmlns:a="http://schemas.openxmlformats.org/drawingml/2006/main">
              <a:ext uri="{FF2B5EF4-FFF2-40B4-BE49-F238E27FC236}">
                <a16:creationId xmlns:a16="http://schemas.microsoft.com/office/drawing/2014/main" id="{0F509B0D-4851-4ACE-ABA5-9C95496B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1,000 unique semantic samples • identical UI meaning checked through the canonical hash</a:t>
            </a:r>
          </a:p>
        </p:txBody>
      </p:sp>
      <p:sp>
        <p:nvSpPr>
          <p:cNvPr id="13" name="old-ir-label-box">
            <a:extLst xmlns:a="http://schemas.openxmlformats.org/drawingml/2006/main">
              <a:ext uri="{FF2B5EF4-FFF2-40B4-BE49-F238E27FC236}">
                <a16:creationId xmlns:a16="http://schemas.microsoft.com/office/drawing/2014/main" id="{76265718-0B13-46A9-91F4-FF9CC081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104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5E0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ld-ir-label">
            <a:extLst xmlns:a="http://schemas.openxmlformats.org/drawingml/2006/main">
              <a:ext uri="{FF2B5EF4-FFF2-40B4-BE49-F238E27FC236}">
                <a16:creationId xmlns:a16="http://schemas.microsoft.com/office/drawing/2014/main" id="{81F96E33-8D0D-4D36-91A3-A3E5335D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4B8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B4B8A"/>
                </a:solidFill>
                <a:latin typeface="Avenir Next"/>
                <a:ea typeface="Avenir Next"/>
                <a:cs typeface="Avenir Next"/>
              </a:rPr>
              <a:t>OLD IR</a:t>
            </a:r>
          </a:p>
        </p:txBody>
      </p:sp>
      <p:sp>
        <p:nvSpPr>
          <p:cNvPr id="15" name="old-ir-sub">
            <a:extLst xmlns:a="http://schemas.openxmlformats.org/drawingml/2006/main">
              <a:ext uri="{FF2B5EF4-FFF2-40B4-BE49-F238E27FC236}">
                <a16:creationId xmlns:a16="http://schemas.microsoft.com/office/drawing/2014/main" id="{254191EF-D077-4DE4-9713-F399203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FlatSpec v1</a:t>
            </a:r>
          </a:p>
        </p:txBody>
      </p:sp>
      <p:sp>
        <p:nvSpPr>
          <p:cNvPr id="16" name="old-ir-bar">
            <a:extLst xmlns:a="http://schemas.openxmlformats.org/drawingml/2006/main">
              <a:ext uri="{FF2B5EF4-FFF2-40B4-BE49-F238E27FC236}">
                <a16:creationId xmlns:a16="http://schemas.microsoft.com/office/drawing/2014/main" id="{4136F3CB-7A26-402C-B9A5-C86C3F98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38425"/>
            <a:ext cx="571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5B4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ld-ir-value">
            <a:extLst xmlns:a="http://schemas.openxmlformats.org/drawingml/2006/main">
              <a:ext uri="{FF2B5EF4-FFF2-40B4-BE49-F238E27FC236}">
                <a16:creationId xmlns:a16="http://schemas.microsoft.com/office/drawing/2014/main" id="{5C16B278-3AC4-4F81-91F8-3F633611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527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1271.4 tokens</a:t>
            </a:r>
          </a:p>
        </p:txBody>
      </p:sp>
      <p:sp>
        <p:nvSpPr>
          <p:cNvPr id="18" name="new-ir-label-box">
            <a:extLst xmlns:a="http://schemas.openxmlformats.org/drawingml/2006/main">
              <a:ext uri="{FF2B5EF4-FFF2-40B4-BE49-F238E27FC236}">
                <a16:creationId xmlns:a16="http://schemas.microsoft.com/office/drawing/2014/main" id="{D5B2E733-6B38-4473-A154-E610572C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4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new-ir-label">
            <a:extLst xmlns:a="http://schemas.openxmlformats.org/drawingml/2006/main">
              <a:ext uri="{FF2B5EF4-FFF2-40B4-BE49-F238E27FC236}">
                <a16:creationId xmlns:a16="http://schemas.microsoft.com/office/drawing/2014/main" id="{A43DC2C8-95E4-46BD-A2BD-EFC49471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NEW IR</a:t>
            </a:r>
          </a:p>
        </p:txBody>
      </p:sp>
      <p:sp>
        <p:nvSpPr>
          <p:cNvPr id="20" name="new-ir-sub">
            <a:extLst xmlns:a="http://schemas.openxmlformats.org/drawingml/2006/main">
              <a:ext uri="{FF2B5EF4-FFF2-40B4-BE49-F238E27FC236}">
                <a16:creationId xmlns:a16="http://schemas.microsoft.com/office/drawing/2014/main" id="{6714120F-CB19-4F9C-8490-5BF90EBC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A2UI Express v1</a:t>
            </a:r>
          </a:p>
        </p:txBody>
      </p:sp>
      <p:sp>
        <p:nvSpPr>
          <p:cNvPr id="21" name="new-ir-bar">
            <a:extLst xmlns:a="http://schemas.openxmlformats.org/drawingml/2006/main">
              <a:ext uri="{FF2B5EF4-FFF2-40B4-BE49-F238E27FC236}">
                <a16:creationId xmlns:a16="http://schemas.microsoft.com/office/drawing/2014/main" id="{B271DBF8-2D55-433B-BAEC-EFBBA0DC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05225"/>
            <a:ext cx="289941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new-ir-value">
            <a:extLst xmlns:a="http://schemas.openxmlformats.org/drawingml/2006/main">
              <a:ext uri="{FF2B5EF4-FFF2-40B4-BE49-F238E27FC236}">
                <a16:creationId xmlns:a16="http://schemas.microsoft.com/office/drawing/2014/main" id="{567B5FC2-0654-459F-96CA-4777106F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195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645.6 tokens</a:t>
            </a:r>
          </a:p>
        </p:txBody>
      </p:sp>
      <p:sp>
        <p:nvSpPr>
          <p:cNvPr id="23" name="bar-baseline">
            <a:extLst xmlns:a="http://schemas.openxmlformats.org/drawingml/2006/main">
              <a:ext uri="{FF2B5EF4-FFF2-40B4-BE49-F238E27FC236}">
                <a16:creationId xmlns:a16="http://schemas.microsoft.com/office/drawing/2014/main" id="{8BC7F8CB-92A5-4CB3-BAA2-CABB7B7E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0D89BDC1-4ECF-4160-8BCC-540D5017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Average token count is measured after compact serialization; lower is better.</a:t>
            </a:r>
          </a:p>
        </p:txBody>
      </p:sp>
      <p:sp>
        <p:nvSpPr>
          <p:cNvPr id="25" name="savings-strip">
            <a:extLst xmlns:a="http://schemas.openxmlformats.org/drawingml/2006/main">
              <a:ext uri="{FF2B5EF4-FFF2-40B4-BE49-F238E27FC236}">
                <a16:creationId xmlns:a16="http://schemas.microsoft.com/office/drawing/2014/main" id="{094860A8-FE2F-4E73-9106-D965170C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8020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0">
            <a:prstDash val="solid"/>
          </a:ln>
        </p:spPr>
      </p:sp>
      <p:sp>
        <p:nvSpPr>
          <p:cNvPr id="26" name="strip-label">
            <a:extLst xmlns:a="http://schemas.openxmlformats.org/drawingml/2006/main">
              <a:ext uri="{FF2B5EF4-FFF2-40B4-BE49-F238E27FC236}">
                <a16:creationId xmlns:a16="http://schemas.microsoft.com/office/drawing/2014/main" id="{90646FA5-FE34-4270-A34B-BC1CD089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SAME SEMANTIC GRAPH</a:t>
            </a:r>
          </a:p>
        </p:txBody>
      </p:sp>
      <p:sp>
        <p:nvSpPr>
          <p:cNvPr id="27" name="strip-old-value">
            <a:extLst xmlns:a="http://schemas.openxmlformats.org/drawingml/2006/main">
              <a:ext uri="{FF2B5EF4-FFF2-40B4-BE49-F238E27FC236}">
                <a16:creationId xmlns:a16="http://schemas.microsoft.com/office/drawing/2014/main" id="{6C4D82E7-311B-43E9-BEA8-45F399F7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6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4B8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B4B8A"/>
                </a:solidFill>
                <a:latin typeface="Georgia"/>
                <a:ea typeface="Georgia"/>
                <a:cs typeface="Georgia"/>
              </a:rPr>
              <a:t>1,271.4</a:t>
            </a:r>
          </a:p>
        </p:txBody>
      </p:sp>
      <p:sp>
        <p:nvSpPr>
          <p:cNvPr id="28" name="strip-arrow">
            <a:extLst xmlns:a="http://schemas.openxmlformats.org/drawingml/2006/main">
              <a:ext uri="{FF2B5EF4-FFF2-40B4-BE49-F238E27FC236}">
                <a16:creationId xmlns:a16="http://schemas.microsoft.com/office/drawing/2014/main" id="{1EE4EE9D-E2C2-4205-8DAF-39F9D85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054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9" name="strip-new-value">
            <a:extLst xmlns:a="http://schemas.openxmlformats.org/drawingml/2006/main">
              <a:ext uri="{FF2B5EF4-FFF2-40B4-BE49-F238E27FC236}">
                <a16:creationId xmlns:a16="http://schemas.microsoft.com/office/drawing/2014/main" id="{A7794567-F9C1-4FF4-ADEE-BA0DEEAF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67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F766E"/>
                </a:solidFill>
                <a:latin typeface="Georgia"/>
                <a:ea typeface="Georgia"/>
                <a:cs typeface="Georgia"/>
              </a:rPr>
              <a:t>645.6</a:t>
            </a:r>
          </a:p>
        </p:txBody>
      </p:sp>
      <p:sp>
        <p:nvSpPr>
          <p:cNvPr id="30" name="strip-units">
            <a:extLst xmlns:a="http://schemas.openxmlformats.org/drawingml/2006/main">
              <a:ext uri="{FF2B5EF4-FFF2-40B4-BE49-F238E27FC236}">
                <a16:creationId xmlns:a16="http://schemas.microsoft.com/office/drawing/2014/main" id="{D3CA184E-6F2B-4E9F-966A-553D8A04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340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tokens / sample</a:t>
            </a:r>
          </a:p>
        </p:txBody>
      </p:sp>
      <p:sp>
        <p:nvSpPr>
          <p:cNvPr id="31" name="strip-saving">
            <a:extLst xmlns:a="http://schemas.openxmlformats.org/drawingml/2006/main">
              <a:ext uri="{FF2B5EF4-FFF2-40B4-BE49-F238E27FC236}">
                <a16:creationId xmlns:a16="http://schemas.microsoft.com/office/drawing/2014/main" id="{EAF0031A-3D1A-4B9C-8152-84C177A9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959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47F2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47F2C"/>
                </a:solidFill>
                <a:latin typeface="Avenir Next"/>
                <a:ea typeface="Avenir Next"/>
                <a:cs typeface="Avenir Next"/>
              </a:rPr>
              <a:t>625.8 saved</a:t>
            </a:r>
          </a:p>
        </p:txBody>
      </p:sp>
      <p:sp>
        <p:nvSpPr>
          <p:cNvPr id="32" name="optimization-rail">
            <a:extLst xmlns:a="http://schemas.openxmlformats.org/drawingml/2006/main">
              <a:ext uri="{FF2B5EF4-FFF2-40B4-BE49-F238E27FC236}">
                <a16:creationId xmlns:a16="http://schemas.microsoft.com/office/drawing/2014/main" id="{348D5E86-C35B-42E7-899B-3EF1A712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2781300" cy="402907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9ECE8"/>
          </a:solidFill>
          <a:ln xmlns:a="http://schemas.openxmlformats.org/drawingml/2006/main" w="0">
            <a:prstDash val="solid"/>
          </a:ln>
        </p:spPr>
      </p:sp>
      <p:sp>
        <p:nvSpPr>
          <p:cNvPr id="33" name="rail-kicker">
            <a:extLst xmlns:a="http://schemas.openxmlformats.org/drawingml/2006/main">
              <a:ext uri="{FF2B5EF4-FFF2-40B4-BE49-F238E27FC236}">
                <a16:creationId xmlns:a16="http://schemas.microsoft.com/office/drawing/2014/main" id="{6F3DAFE0-8EE4-4C91-86B3-8A9FD94B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WHAT CHANGED IN THE ENCODING</a:t>
            </a:r>
          </a:p>
        </p:txBody>
      </p:sp>
      <p:sp>
        <p:nvSpPr>
          <p:cNvPr id="34" name="rail-intro">
            <a:extLst xmlns:a="http://schemas.openxmlformats.org/drawingml/2006/main">
              <a:ext uri="{FF2B5EF4-FFF2-40B4-BE49-F238E27FC236}">
                <a16:creationId xmlns:a16="http://schemas.microsoft.com/office/drawing/2014/main" id="{AC75F058-92CF-453D-9D5D-55536424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2410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Compactness comes from removing representation overhead — not from dropping UI meaning.</a:t>
            </a:r>
          </a:p>
        </p:txBody>
      </p:sp>
      <p:sp>
        <p:nvSpPr>
          <p:cNvPr id="35" name="rail-rule-top">
            <a:extLst xmlns:a="http://schemas.openxmlformats.org/drawingml/2006/main">
              <a:ext uri="{FF2B5EF4-FFF2-40B4-BE49-F238E27FC236}">
                <a16:creationId xmlns:a16="http://schemas.microsoft.com/office/drawing/2014/main" id="{CA6D46D9-AAB1-4B66-B225-FF017AA2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2892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opt-1-marker">
            <a:extLst xmlns:a="http://schemas.openxmlformats.org/drawingml/2006/main">
              <a:ext uri="{FF2B5EF4-FFF2-40B4-BE49-F238E27FC236}">
                <a16:creationId xmlns:a16="http://schemas.microsoft.com/office/drawing/2014/main" id="{4B5877BD-85E0-4D42-AD1F-47960986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19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opt-1-number">
            <a:extLst xmlns:a="http://schemas.openxmlformats.org/drawingml/2006/main">
              <a:ext uri="{FF2B5EF4-FFF2-40B4-BE49-F238E27FC236}">
                <a16:creationId xmlns:a16="http://schemas.microsoft.com/office/drawing/2014/main" id="{37267104-6D4D-45C1-92B2-59562CE0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8" name="opt-1-label">
            <a:extLst xmlns:a="http://schemas.openxmlformats.org/drawingml/2006/main">
              <a:ext uri="{FF2B5EF4-FFF2-40B4-BE49-F238E27FC236}">
                <a16:creationId xmlns:a16="http://schemas.microsoft.com/office/drawing/2014/main" id="{37E31EEC-DB2D-496B-ACFF-B0992B5F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384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Trailing defaults elided</a:t>
            </a:r>
          </a:p>
        </p:txBody>
      </p:sp>
      <p:sp>
        <p:nvSpPr>
          <p:cNvPr id="39" name="opt-1-rule">
            <a:extLst xmlns:a="http://schemas.openxmlformats.org/drawingml/2006/main">
              <a:ext uri="{FF2B5EF4-FFF2-40B4-BE49-F238E27FC236}">
                <a16:creationId xmlns:a16="http://schemas.microsoft.com/office/drawing/2014/main" id="{4B2AB190-2584-4B4C-B2E3-CD8B26E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956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opt-2-marker">
            <a:extLst xmlns:a="http://schemas.openxmlformats.org/drawingml/2006/main">
              <a:ext uri="{FF2B5EF4-FFF2-40B4-BE49-F238E27FC236}">
                <a16:creationId xmlns:a16="http://schemas.microsoft.com/office/drawing/2014/main" id="{CD0B9727-668C-4CC3-A6A2-83C5C213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95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opt-2-number">
            <a:extLst xmlns:a="http://schemas.openxmlformats.org/drawingml/2006/main">
              <a:ext uri="{FF2B5EF4-FFF2-40B4-BE49-F238E27FC236}">
                <a16:creationId xmlns:a16="http://schemas.microsoft.com/office/drawing/2014/main" id="{8C95676C-F446-40D9-9B31-E34FE24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52825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4B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B4B8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2" name="opt-2-label">
            <a:extLst xmlns:a="http://schemas.openxmlformats.org/drawingml/2006/main">
              <a:ext uri="{FF2B5EF4-FFF2-40B4-BE49-F238E27FC236}">
                <a16:creationId xmlns:a16="http://schemas.microsoft.com/office/drawing/2014/main" id="{8FFC6BDA-0240-443B-B344-5B01520D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147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Short, deterministic IDs</a:t>
            </a:r>
          </a:p>
        </p:txBody>
      </p:sp>
      <p:sp>
        <p:nvSpPr>
          <p:cNvPr id="43" name="opt-2-rule">
            <a:extLst xmlns:a="http://schemas.openxmlformats.org/drawingml/2006/main">
              <a:ext uri="{FF2B5EF4-FFF2-40B4-BE49-F238E27FC236}">
                <a16:creationId xmlns:a16="http://schemas.microsoft.com/office/drawing/2014/main" id="{BB3B2120-24E4-4A32-9457-D96255EE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719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opt-3-marker">
            <a:extLst xmlns:a="http://schemas.openxmlformats.org/drawingml/2006/main">
              <a:ext uri="{FF2B5EF4-FFF2-40B4-BE49-F238E27FC236}">
                <a16:creationId xmlns:a16="http://schemas.microsoft.com/office/drawing/2014/main" id="{53D2B6B7-06B7-45C2-BB9F-F0DAEA87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7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1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opt-3-number">
            <a:extLst xmlns:a="http://schemas.openxmlformats.org/drawingml/2006/main">
              <a:ext uri="{FF2B5EF4-FFF2-40B4-BE49-F238E27FC236}">
                <a16:creationId xmlns:a16="http://schemas.microsoft.com/office/drawing/2014/main" id="{A69C4880-C84E-4671-9287-F2BF6DC2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29075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C47F2C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C47F2C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6" name="opt-3-label">
            <a:extLst xmlns:a="http://schemas.openxmlformats.org/drawingml/2006/main">
              <a:ext uri="{FF2B5EF4-FFF2-40B4-BE49-F238E27FC236}">
                <a16:creationId xmlns:a16="http://schemas.microsoft.com/office/drawing/2014/main" id="{BB735226-744C-413C-A0DD-CCF06E25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909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Named args only when gaps matter</a:t>
            </a:r>
          </a:p>
        </p:txBody>
      </p:sp>
      <p:sp>
        <p:nvSpPr>
          <p:cNvPr id="47" name="opt-3-rule">
            <a:extLst xmlns:a="http://schemas.openxmlformats.org/drawingml/2006/main">
              <a:ext uri="{FF2B5EF4-FFF2-40B4-BE49-F238E27FC236}">
                <a16:creationId xmlns:a16="http://schemas.microsoft.com/office/drawing/2014/main" id="{CF7B3232-515B-4E78-9C86-02AE802F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481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opt-4-marker">
            <a:extLst xmlns:a="http://schemas.openxmlformats.org/drawingml/2006/main">
              <a:ext uri="{FF2B5EF4-FFF2-40B4-BE49-F238E27FC236}">
                <a16:creationId xmlns:a16="http://schemas.microsoft.com/office/drawing/2014/main" id="{5B280D81-9F4C-4215-99F7-7391326E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481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opt-4-number">
            <a:extLst xmlns:a="http://schemas.openxmlformats.org/drawingml/2006/main">
              <a:ext uri="{FF2B5EF4-FFF2-40B4-BE49-F238E27FC236}">
                <a16:creationId xmlns:a16="http://schemas.microsoft.com/office/drawing/2014/main" id="{2F8E9EDE-7585-4DCC-B672-497FC7FB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05325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F766E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0F76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0" name="opt-4-label">
            <a:extLst xmlns:a="http://schemas.openxmlformats.org/drawingml/2006/main">
              <a:ext uri="{FF2B5EF4-FFF2-40B4-BE49-F238E27FC236}">
                <a16:creationId xmlns:a16="http://schemas.microsoft.com/office/drawing/2014/main" id="{0D132328-9A8F-42EF-AE23-7F663DB6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672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Stable ordering + empty-value omission</a:t>
            </a:r>
          </a:p>
        </p:txBody>
      </p:sp>
      <p:sp>
        <p:nvSpPr>
          <p:cNvPr id="51" name="opt-4-rule">
            <a:extLst xmlns:a="http://schemas.openxmlformats.org/drawingml/2006/main">
              <a:ext uri="{FF2B5EF4-FFF2-40B4-BE49-F238E27FC236}">
                <a16:creationId xmlns:a16="http://schemas.microsoft.com/office/drawing/2014/main" id="{0EC9E6CD-A79C-4A32-B468-15BB869D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244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opt-5-marker">
            <a:extLst xmlns:a="http://schemas.openxmlformats.org/drawingml/2006/main">
              <a:ext uri="{FF2B5EF4-FFF2-40B4-BE49-F238E27FC236}">
                <a16:creationId xmlns:a16="http://schemas.microsoft.com/office/drawing/2014/main" id="{783E6E2A-0AF6-466C-B7E2-C8316A2E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24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opt-5-number">
            <a:extLst xmlns:a="http://schemas.openxmlformats.org/drawingml/2006/main">
              <a:ext uri="{FF2B5EF4-FFF2-40B4-BE49-F238E27FC236}">
                <a16:creationId xmlns:a16="http://schemas.microsoft.com/office/drawing/2014/main" id="{BAB1603E-8FFC-4A1A-9A40-4A0ADAB7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81575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4B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B4B8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4" name="opt-5-label">
            <a:extLst xmlns:a="http://schemas.openxmlformats.org/drawingml/2006/main">
              <a:ext uri="{FF2B5EF4-FFF2-40B4-BE49-F238E27FC236}">
                <a16:creationId xmlns:a16="http://schemas.microsoft.com/office/drawing/2014/main" id="{EF9A6AC2-1145-406F-AC6B-B53759E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434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02A32"/>
                </a:solidFill>
                <a:latin typeface="Avenir Next"/>
                <a:ea typeface="Avenir Next"/>
                <a:cs typeface="Avenir Next"/>
              </a:rPr>
              <a:t>Semantic hash preserved end-to-end</a:t>
            </a:r>
          </a:p>
        </p:txBody>
      </p:sp>
      <p:sp>
        <p:nvSpPr>
          <p:cNvPr id="55" name="opt-5-rule">
            <a:extLst xmlns:a="http://schemas.openxmlformats.org/drawingml/2006/main">
              <a:ext uri="{FF2B5EF4-FFF2-40B4-BE49-F238E27FC236}">
                <a16:creationId xmlns:a16="http://schemas.microsoft.com/office/drawing/2014/main" id="{30C3CEDF-0FDC-4982-966A-D99CF7BB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006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ail-caveat">
            <a:extLst xmlns:a="http://schemas.openxmlformats.org/drawingml/2006/main">
              <a:ext uri="{FF2B5EF4-FFF2-40B4-BE49-F238E27FC236}">
                <a16:creationId xmlns:a16="http://schemas.microsoft.com/office/drawing/2014/main" id="{6F8DC8DA-ABB0-4025-847A-2133733C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14950"/>
            <a:ext cx="2190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The active model-facing format is A2UI Express; FlatSpec remains a read-only legacy comparison boundary.</a:t>
            </a:r>
          </a:p>
        </p:txBody>
      </p:sp>
      <p:sp>
        <p:nvSpPr>
          <p:cNvPr id="5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79A814-ACDD-4DD6-86AD-EAC530B7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footnote">
            <a:extLst xmlns:a="http://schemas.openxmlformats.org/drawingml/2006/main">
              <a:ext uri="{FF2B5EF4-FFF2-40B4-BE49-F238E27FC236}">
                <a16:creationId xmlns:a16="http://schemas.microsoft.com/office/drawing/2014/main" id="{D578D1A1-A850-4201-9866-4E9A5C3B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7429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Tokenizer: regex_lexical_estimate_v1 • diagnostic only; exact deployed Gemma tokenizer was unavailable.</a:t>
            </a:r>
          </a:p>
        </p:txBody>
      </p:sp>
      <p:sp>
        <p:nvSpPr>
          <p:cNvPr id="59" name="footer-mark">
            <a:extLst xmlns:a="http://schemas.openxmlformats.org/drawingml/2006/main">
              <a:ext uri="{FF2B5EF4-FFF2-40B4-BE49-F238E27FC236}">
                <a16:creationId xmlns:a16="http://schemas.microsoft.com/office/drawing/2014/main" id="{E62DA752-C1DE-4183-B919-BB773EBE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381750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6F7C7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F7C7B"/>
                </a:solidFill>
                <a:latin typeface="Avenir Next"/>
                <a:ea typeface="Avenir Next"/>
                <a:cs typeface="Avenir Next"/>
              </a:rPr>
              <a:t>A2UI EXPRESS  ·  1,000-SAMPLE COMPARISON</a:t>
            </a:r>
          </a:p>
        </p:txBody>
      </p:sp>
    </p:spTree>
    <p:extLst>
      <p:ext uri="{BB962C8B-B14F-4D97-AF65-F5344CB8AC3E}">
        <p14:creationId xmlns:p14="http://schemas.microsoft.com/office/powerpoint/2010/main" val="1796652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2026-08-05T05:40:53.3060000Z</dcterms:created>
  <dcterms:modified xsi:type="dcterms:W3CDTF">2026-08-05T05:40:53.3060000Z</dcterms:modified>
</coreProperties>
</file>