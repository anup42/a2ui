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31f4fd469b4995" /><Relationship Type="http://schemas.openxmlformats.org/officeDocument/2006/relationships/extended-properties" Target="/docProps/app.xml" Id="R3af6d9e398324048" /><Relationship Type="http://schemas.openxmlformats.org/officeDocument/2006/relationships/officeDocument" Target="/ppt/presentation.xml" Id="R691cae25dd4e44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f8c5ea2ee24aee"/>
  </p:sldMasterIdLst>
  <p:notesMasterIdLst>
    <p:notesMasterId xmlns:r="http://schemas.openxmlformats.org/officeDocument/2006/relationships" r:id="Rf31c24dfc24d4d04"/>
  </p:notesMasterIdLst>
  <p:sldIdLst>
    <p:sldId xmlns:r="http://schemas.openxmlformats.org/officeDocument/2006/relationships" id="256" r:id="R21057f8820d843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8c5ea2ee24aee" /><Relationship Type="http://schemas.openxmlformats.org/officeDocument/2006/relationships/theme" Target="/ppt/theme/theme1.xml" Id="R7f648d3c389749ae" /><Relationship Type="http://schemas.openxmlformats.org/officeDocument/2006/relationships/notesMaster" Target="/ppt/notesMasters/notesMaster1.xml" Id="Rf31c24dfc24d4d04" /><Relationship Type="http://schemas.openxmlformats.org/officeDocument/2006/relationships/presProps" Target="/ppt/presProps.xml" Id="Rf2db56c3368b43df" /><Relationship Type="http://schemas.openxmlformats.org/officeDocument/2006/relationships/viewProps" Target="/ppt/viewProps.xml" Id="R37058284a22749aa" /><Relationship Type="http://schemas.openxmlformats.org/officeDocument/2006/relationships/tableStyles" Target="/ppt/tableStyles.xml" Id="Rcf7ddbf2ab5c401c" /><Relationship Type="http://schemas.openxmlformats.org/officeDocument/2006/relationships/slide" Target="/ppt/slides/slide1.xml" Id="R21057f8820d843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9546882a1974e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a8ddcc5794706" /><Relationship Type="http://schemas.openxmlformats.org/officeDocument/2006/relationships/notesMaster" Target="/ppt/notesMasters/notesMaster1.xml" Id="R107ea81eb3d543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1fdd4493a47c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a763e3322264159" /><Relationship Type="http://schemas.openxmlformats.org/officeDocument/2006/relationships/slideLayout" Target="/ppt/slideLayouts/slideLayout2.xml" Id="R7a1225cb22dc48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1225cb22dc48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3a8087a10436e" /><Relationship Type="http://schemas.openxmlformats.org/officeDocument/2006/relationships/notesSlide" Target="/ppt/notesSlides/notesSlide1.xml" Id="R6f7af02f2daa44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CF08F-7969-4CE9-8F03-46C2F50A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3D8400ED-C8C3-4B6A-9AB0-D9E11A4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C33D3470-99FF-4741-9167-83B13DC6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B87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176B87"/>
                </a:solidFill>
                <a:latin typeface="Segoe UI"/>
                <a:ea typeface="Segoe UI"/>
                <a:cs typeface="Segoe UI"/>
              </a:rPr>
              <a:t>ANDROID A2UI RENDERER  •  CAPABILITY CONTRACT 2.0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C3A38-7333-4E18-A05D-E51A1C2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SOURCE VERIFIED  •  05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0310A-F881-4783-A489-30CD5F7A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236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102236"/>
                </a:solidFill>
                <a:latin typeface="Bahnschrift"/>
                <a:ea typeface="Bahnschrift"/>
                <a:cs typeface="Bahnschrift"/>
              </a:rPr>
              <a:t>Every declared intent now has a renderer-backed recipe.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A395A-833F-4492-ACB5-BF4203CD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32 deterministic intent recipes map into a versioned domain contract and reusable Compose renderers.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266D0-4BDC-4884-BBE1-DDCC8070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C7227-A454-421E-926B-525C9675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234315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60E51-D642-4977-979B-EE43F5FA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7620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B19BE-1C7A-4BB1-BB25-CB1C192E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431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9B9B2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99B9B2"/>
                </a:solidFill>
                <a:latin typeface="Segoe UI"/>
                <a:ea typeface="Segoe UI"/>
                <a:cs typeface="Segoe UI"/>
              </a:rPr>
              <a:t>INTENT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5C472-33B2-4344-9D94-5DD26E1E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857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32/32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D59FA-EB9B-4CD2-9292-4D6B45C9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81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D8D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B9D8D0"/>
                </a:solidFill>
                <a:latin typeface="Segoe UI"/>
                <a:ea typeface="Segoe UI"/>
                <a:cs typeface="Segoe UI"/>
              </a:rPr>
              <a:t>deterministic recipes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FE0F3-F1FA-4406-8DCD-DBA5881F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099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01F33-B0B5-4D4D-B1C7-049788A2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290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9A2B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E59A2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0C511-1904-4A3B-AC4A-ED50A601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100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recipe per declared intent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0E944-BEE4-48EB-973A-24C7AEDB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529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9A2B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E59A2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27A50-D5A3-4754-9382-DB394748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338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strict canonical fixture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3F620-C89A-48A1-866F-B435F2B1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768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9A2B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E59A2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9F04A-90C8-4EA7-8B25-6BA3A8AA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57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Manifest-backed type + domain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13968-A5D5-4228-B290-71ED1A87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72100"/>
            <a:ext cx="1676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1A8B0"/>
                </a:solidFill>
                <a:latin typeface="Segoe UI"/>
                <a:ea typeface="Segoe UI"/>
                <a:cs typeface="Segoe UI"/>
              </a:defRPr>
            </a:pPr>
            <a:r>
              <a:rPr sz="713" b="0">
                <a:solidFill>
                  <a:srgbClr val="91A8B0"/>
                </a:solidFill>
                <a:latin typeface="Segoe UI"/>
                <a:ea typeface="Segoe UI"/>
                <a:cs typeface="Segoe UI"/>
              </a:rPr>
              <a:t>Coverage definition: recipe-backed rendering, not the earlier subjective strong/partial score.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7EAFC-3246-45F4-9E7B-CD139130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9240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23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02236"/>
                </a:solidFill>
                <a:latin typeface="Segoe UI"/>
                <a:ea typeface="Segoe UI"/>
                <a:cs typeface="Segoe UI"/>
              </a:rPr>
              <a:t>12 SUPPORTED TABLE DOMAINS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63661-C7B5-4380-BB7E-D35F38D9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9240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9 card-first  •  3 structured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058CA-7DCD-412A-BEFF-9AB34B4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219325"/>
            <a:ext cx="54864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3A521-7344-4423-AA61-82469A84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526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2B9C6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92B9C6"/>
                </a:solidFill>
                <a:latin typeface="Segoe UI"/>
                <a:ea typeface="Segoe UI"/>
                <a:cs typeface="Segoe UI"/>
              </a:rPr>
              <a:t>CARD-FIRST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C34FA1-4EF1-48B9-8091-ED7C5F17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00325"/>
            <a:ext cx="1581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45"/>
          </a:solidFill>
          <a:ln xmlns:a="http://schemas.openxmlformats.org/drawingml/2006/main" w="0"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9F55F-C75C-409D-A063-8BE5B7A8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D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BE49F-BD62-4A09-BBC4-A5BF0AA9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weather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502B7-856F-44CC-9B6B-D1E2F85D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600325"/>
            <a:ext cx="1581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45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D9AB6-A8C9-428E-880B-F0DC766A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91D99D-112E-4C9C-B0D5-394713B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flight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618E7-2191-46A2-B2F4-2FB536F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00325"/>
            <a:ext cx="1581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45"/>
          </a:solidFill>
          <a:ln xmlns:a="http://schemas.openxmlformats.org/drawingml/2006/main" w="0"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DB5C92-13DA-4A30-BE3E-11E3E47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DAEAC4-36F3-4606-BFC5-E18CA7AB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booking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90AC15-18C9-4102-A119-8FD93E7F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43250"/>
            <a:ext cx="1581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45"/>
          </a:solidFill>
          <a:ln xmlns:a="http://schemas.openxmlformats.org/drawingml/2006/main" w="0"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F054C-4E23-4FA5-9FE4-6FDB30BC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7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30EE9C-76A4-4CE2-9782-7A79844F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99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restaurants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78CA46-12B1-44D6-81A3-400C83D3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43250"/>
            <a:ext cx="1581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45"/>
          </a:solidFill>
          <a:ln xmlns:a="http://schemas.openxmlformats.org/drawingml/2006/main" w="0"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32D4B2-8FDA-4A2F-8BB2-940FA012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7483E0-1E7A-4303-9090-8C413E11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99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schedule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685542-F91D-41C6-9BD9-AEC00485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43250"/>
            <a:ext cx="1581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45"/>
          </a:solidFill>
          <a:ln xmlns:a="http://schemas.openxmlformats.org/drawingml/2006/main" w="0"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6CC25C-0A93-4B94-8196-33561F15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F8F748-66E6-411B-92BE-9BD8328A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99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C932C7-64B0-4C70-B752-FB5E4CEC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86175"/>
            <a:ext cx="1581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45"/>
          </a:solidFill>
          <a:ln xmlns:a="http://schemas.openxmlformats.org/drawingml/2006/main" w="0"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15E32B-90AE-4BFC-BAF4-9C725735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B2AC39-7816-4447-A9E4-99B5208E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528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playlist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3E2028-49C1-49DE-A798-B398E970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686175"/>
            <a:ext cx="1581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45"/>
          </a:solidFill>
          <a:ln xmlns:a="http://schemas.openxmlformats.org/drawingml/2006/main" w="0"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48387B-94A7-4866-9FE8-BD11CE48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3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E12F31-3B1D-402D-8139-560B300E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528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news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0F593C-0A09-4A71-82E5-30CADFE9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86175"/>
            <a:ext cx="1581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45"/>
          </a:solidFill>
          <a:ln xmlns:a="http://schemas.openxmlformats.org/drawingml/2006/main" w="0"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A0E386-A788-48CE-B50C-A3CB2439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C6A72D-146B-420E-8E2D-6FFA8B0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product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539BF8-0CB1-4E3D-8AF0-7FA87F18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433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912CED-8D42-458A-BDE4-E6142D25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338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0C2533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0C2533"/>
                </a:solidFill>
                <a:latin typeface="Segoe UI"/>
                <a:ea typeface="Segoe UI"/>
                <a:cs typeface="Segoe UI"/>
              </a:rPr>
              <a:t>NEW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018FAF-8DAE-40A6-9B87-C5A46F5E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338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F1F3A4-D62A-48A1-8165-85E05268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429125"/>
            <a:ext cx="504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FC8D1"/>
                </a:solidFill>
                <a:latin typeface="Segoe UI"/>
                <a:ea typeface="Segoe UI"/>
                <a:cs typeface="Segoe UI"/>
              </a:defRPr>
            </a:pPr>
            <a:r>
              <a:rPr sz="713" b="1">
                <a:solidFill>
                  <a:srgbClr val="AFC8D1"/>
                </a:solidFill>
                <a:latin typeface="Segoe UI"/>
                <a:ea typeface="Segoe UI"/>
                <a:cs typeface="Segoe UI"/>
              </a:rPr>
              <a:t>native semantics   •   row media + actions   •   shape-aware fallback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64C11C-9A3A-4F4C-970D-2A7EEF58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96252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6B87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176B87"/>
                </a:solidFill>
                <a:latin typeface="Segoe UI"/>
                <a:ea typeface="Segoe UI"/>
                <a:cs typeface="Segoe UI"/>
              </a:rPr>
              <a:t>STRUCTURED TABLE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BEC763-29F2-409F-9269-414B47B5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1816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C99BB0-4A4A-4E98-AF77-0D066A1B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324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8E92DE-6E0A-47A0-B8B0-EAFED1C0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29225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23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02236"/>
                </a:solidFill>
                <a:latin typeface="Segoe UI"/>
                <a:ea typeface="Segoe UI"/>
                <a:cs typeface="Segoe UI"/>
              </a:rPr>
              <a:t>comparison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77DC62-3159-42FA-8CB8-093AC6B7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1816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F3E1D9-2DB8-473B-B408-22719FB5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324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8F05BC-6DDB-4C63-8B69-634AE96F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29225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23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02236"/>
                </a:solidFill>
                <a:latin typeface="Segoe UI"/>
                <a:ea typeface="Segoe UI"/>
                <a:cs typeface="Segoe UI"/>
              </a:rPr>
              <a:t>formula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EE9610-8A01-4BFC-889E-75B01DC8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816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66E7AD-0B37-4C99-9FB4-BF12AB76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324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B56BD1-8608-42CC-BCF1-242D45F0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29225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23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02236"/>
                </a:solidFill>
                <a:latin typeface="Segoe UI"/>
                <a:ea typeface="Segoe UI"/>
                <a:cs typeface="Segoe UI"/>
              </a:rPr>
              <a:t>generic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14E948C-522E-4D34-BFFC-2ADFB7EF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686425"/>
            <a:ext cx="548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713" b="0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Adaptive views: climate • itinerary • timeline • entity • feature • metric • key-value • sticky/horizontal table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8415C8-6311-424E-AF64-E93EAC5F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9240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23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02236"/>
                </a:solidFill>
                <a:latin typeface="Segoe UI"/>
                <a:ea typeface="Segoe UI"/>
                <a:cs typeface="Segoe UI"/>
              </a:rPr>
              <a:t>FORMER GAPS NOW ROUTED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6E90CE-FB4A-4D33-98C1-B4A7000F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43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55AE0F-6F9A-44F4-87A2-DF76A369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33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CE3EA0-0DC5-40CF-9EE6-6567262B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05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23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02236"/>
                </a:solidFill>
                <a:latin typeface="Segoe UI"/>
                <a:ea typeface="Segoe UI"/>
                <a:cs typeface="Segoe UI"/>
              </a:rPr>
              <a:t>Healthcare + Legal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7F649C-BAD5-4FB0-B6AF-8C2A6C0C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95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Checklist  •  Alert  •  source + disclaimer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7177EF-E6D4-40F0-A824-B5DBF979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1940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972984A-7923-49FD-9DB4-AD11ADB9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CCEC8A-B28A-454D-8E59-0C1F7105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55E1F4-0CAB-4DA9-84ED-B688434B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67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23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02236"/>
                </a:solidFill>
                <a:latin typeface="Segoe UI"/>
                <a:ea typeface="Segoe UI"/>
                <a:cs typeface="Segoe UI"/>
              </a:rPr>
              <a:t>Career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ED2E624-8B21-4E20-87F7-494079DD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57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Checklist  •  EmailPreview  •  Card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9E21994-6BD5-4AF6-9585-50A270AA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8140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F88F73F-E94D-4CA2-B668-3790F34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67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5ED93AF-CAE4-419B-907B-F33269A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57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E4F576E-6C08-4F80-8D51-D74CD2F6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29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23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02236"/>
                </a:solidFill>
                <a:latin typeface="Segoe UI"/>
                <a:ea typeface="Segoe UI"/>
                <a:cs typeface="Segoe UI"/>
              </a:rPr>
              <a:t>QR + Notification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4F1FBB2-56C5-4EF9-9EC6-63E7EE39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19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Alert  •  status/process workflow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5EDD95B-5B0F-47D5-A644-26750617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4340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25BCDF-185A-4350-B2AE-C134A60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29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E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FB6DCD-73B6-40FE-8B16-01692DB2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19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8B63F06-7FF2-4191-A0C2-EF5AF67E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91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23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02236"/>
                </a:solidFill>
                <a:latin typeface="Segoe UI"/>
                <a:ea typeface="Segoe UI"/>
                <a:cs typeface="Segoe UI"/>
              </a:rPr>
              <a:t>Product + Automotive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A6969A-D748-4C30-9044-7B3165A1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781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Product cards  •  row-local media/actions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9C220CE-29E2-4AEC-BE0B-4905B7B0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10540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340F540-0015-42F1-9809-65B9E9A1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44830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957478-FAA7-4E63-8503-558BD935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43550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B87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176B87"/>
                </a:solidFill>
                <a:latin typeface="Segoe UI"/>
                <a:ea typeface="Segoe UI"/>
                <a:cs typeface="Segoe UI"/>
              </a:rPr>
              <a:t>Renderer coverage is separate from live-data or tool availability.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62C43E-8805-459A-9D2C-BED2D0F3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98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D30505D-D9B1-46D3-A5FA-F678C04B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236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02236"/>
                </a:solidFill>
                <a:latin typeface="Bahnschrift"/>
                <a:ea typeface="Bahnschrift"/>
                <a:cs typeface="Bahnschrift"/>
              </a:rPr>
              <a:t>25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2B38BB0-7AF3-43E1-A9D6-4DCC3F7A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62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788" b="1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component renderers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915AE44-2610-4F97-8482-DD21107D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3817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E214025-937C-4A40-B79F-65543DA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3341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236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02236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5F0F394-1E44-4C0F-9026-1019D1B9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36270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788" b="1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safe runtime actions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D3246E-1061-454F-A5D8-B9EDFD71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3817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A35C06A-1163-4D57-9CD9-313B61D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362700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C7C59"/>
                </a:solidFill>
                <a:latin typeface="Segoe UI"/>
                <a:ea typeface="Segoe UI"/>
                <a:cs typeface="Segoe UI"/>
              </a:defRPr>
            </a:pPr>
            <a:r>
              <a:rPr sz="788" b="1">
                <a:solidFill>
                  <a:srgbClr val="0C7C59"/>
                </a:solidFill>
                <a:latin typeface="Segoe UI"/>
                <a:ea typeface="Segoe UI"/>
                <a:cs typeface="Segoe UI"/>
              </a:rPr>
              <a:t>A2UI Express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5174DCA-64BF-4BD7-B287-3A601393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3627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active producer contract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C4D5161-4DFF-41C8-B77D-353E7118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362700"/>
            <a:ext cx="389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E6C72"/>
                </a:solidFill>
                <a:latin typeface="Segoe UI"/>
                <a:ea typeface="Segoe UI"/>
                <a:cs typeface="Segoe UI"/>
              </a:defRPr>
            </a:pPr>
            <a:r>
              <a:rPr sz="638" b="0">
                <a:solidFill>
                  <a:srgbClr val="5E6C72"/>
                </a:solidFill>
                <a:latin typeface="Segoe UI"/>
                <a:ea typeface="Segoe UI"/>
                <a:cs typeface="Segoe UI"/>
              </a:rPr>
              <a:t>Source: renderer_capabilities.json + intent_renderer_recipes.json + Android renderer routes</a:t>
            </a:r>
          </a:p>
        </p:txBody>
      </p:sp>
    </p:spTree>
    <p:extLst>
      <p:ext uri="{BB962C8B-B14F-4D97-AF65-F5344CB8AC3E}">
        <p14:creationId xmlns:p14="http://schemas.microsoft.com/office/powerpoint/2010/main" val="727792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2026-08-04T19:02:11.8900000Z</dcterms:created>
  <dcterms:modified xsi:type="dcterms:W3CDTF">2026-08-04T19:02:11.8900000Z</dcterms:modified>
</coreProperties>
</file>