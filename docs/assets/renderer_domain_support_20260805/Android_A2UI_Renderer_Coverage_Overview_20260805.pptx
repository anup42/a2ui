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a3052933ee41b7" /><Relationship Type="http://schemas.openxmlformats.org/officeDocument/2006/relationships/extended-properties" Target="/docProps/app.xml" Id="Rb22fb2bd7d5a407a" /><Relationship Type="http://schemas.openxmlformats.org/officeDocument/2006/relationships/officeDocument" Target="/ppt/presentation.xml" Id="R20de7423bcb048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af1a73236c4400"/>
  </p:sldMasterIdLst>
  <p:notesMasterIdLst>
    <p:notesMasterId xmlns:r="http://schemas.openxmlformats.org/officeDocument/2006/relationships" r:id="Re91e1d0495ae4a88"/>
  </p:notesMasterIdLst>
  <p:sldIdLst>
    <p:sldId xmlns:r="http://schemas.openxmlformats.org/officeDocument/2006/relationships" id="256" r:id="Rac598f2f334449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af1a73236c4400" /><Relationship Type="http://schemas.openxmlformats.org/officeDocument/2006/relationships/theme" Target="/ppt/theme/theme1.xml" Id="R048d40bef8a74ed3" /><Relationship Type="http://schemas.openxmlformats.org/officeDocument/2006/relationships/notesMaster" Target="/ppt/notesMasters/notesMaster1.xml" Id="Re91e1d0495ae4a88" /><Relationship Type="http://schemas.openxmlformats.org/officeDocument/2006/relationships/presProps" Target="/ppt/presProps.xml" Id="Rf870160416e9471c" /><Relationship Type="http://schemas.openxmlformats.org/officeDocument/2006/relationships/viewProps" Target="/ppt/viewProps.xml" Id="Rcf71bfd9bc874899" /><Relationship Type="http://schemas.openxmlformats.org/officeDocument/2006/relationships/tableStyles" Target="/ppt/tableStyles.xml" Id="R07c89ce3cfe34814" /><Relationship Type="http://schemas.openxmlformats.org/officeDocument/2006/relationships/slide" Target="/ppt/slides/slide1.xml" Id="Rac598f2f334449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42cf02abf9247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8ddb2bfccb4b9e" /><Relationship Type="http://schemas.openxmlformats.org/officeDocument/2006/relationships/notesMaster" Target="/ppt/notesMasters/notesMaster1.xml" Id="Rb2456ce1c6c04c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053937c30441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84b6fc452cb4b7a" /><Relationship Type="http://schemas.openxmlformats.org/officeDocument/2006/relationships/slideLayout" Target="/ppt/slideLayouts/slideLayout2.xml" Id="Rce7a1f190eac48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7a1f190eac48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7faa4b3ba2488f" /><Relationship Type="http://schemas.openxmlformats.org/officeDocument/2006/relationships/notesSlide" Target="/ppt/notesSlides/notesSlide1.xml" Id="Rf79d70c5b2c447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905D3F-EA6C-4FD7-8361-AB36C84A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0AAE4A85-135A-4DB0-AE93-1DE4FC87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8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C1D541F3-29E9-4758-BDE6-2458A444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B6F9B"/>
                </a:solidFill>
                <a:latin typeface="Segoe UI"/>
                <a:ea typeface="Segoe UI"/>
                <a:cs typeface="Segoe UI"/>
              </a:defRPr>
            </a:pPr>
            <a:r>
              <a:rPr sz="675" b="1">
                <a:solidFill>
                  <a:srgbClr val="1B6F9B"/>
                </a:solidFill>
                <a:latin typeface="Segoe UI"/>
                <a:ea typeface="Segoe UI"/>
                <a:cs typeface="Segoe UI"/>
              </a:rPr>
              <a:t>ANDROID A2UI RENDERER  •  CURRENT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0F5B5-CA06-45AD-92AB-9C9C807F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1450"/>
            <a:ext cx="2181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600" b="1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SOURCE VERIFIED  •  05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80D0D-A117-4743-80A6-FE3D5191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"/>
            <a:ext cx="1028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04A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12304A"/>
                </a:solidFill>
                <a:latin typeface="Bahnschrift"/>
                <a:ea typeface="Bahnschrift"/>
                <a:cs typeface="Bahnschrift"/>
              </a:rPr>
              <a:t>All 32 declared intents now have deterministic renderer recipes.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457FC-8555-45AE-9AFD-21265028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04850"/>
            <a:ext cx="990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713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Capability contract v2.0.0  •  12 table domains  •  25 component renderers  •  6 safe runtime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CAC82-452B-41CA-8E1C-EEA16912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3333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E2AE1-6854-4536-ACF9-DED44D46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3333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C145F-E59F-4559-BCA3-D5565863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Route coverage overview • 32 intents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13FB5-BE2B-4972-9CED-E113EA93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723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E20A8-3CF0-49FC-9D5D-2E38334C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47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8439D-6FD8-4AD2-9623-E47633D0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2858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805C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17805C"/>
                </a:solidFill>
                <a:latin typeface="Bahnschrift"/>
                <a:ea typeface="Bahnschrift"/>
                <a:cs typeface="Bahnschrift"/>
              </a:rPr>
              <a:t>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D665D-100B-473C-82F7-4E0FB759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1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Declared intents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DD36A-DCE3-446A-89E1-E070F7F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100% routed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AA85A-01AB-42ED-BC93-F4B89C8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228725"/>
            <a:ext cx="723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196E7-3C23-43F2-BFD9-381081C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228725"/>
            <a:ext cx="47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08C81-F30C-402A-B11F-FE6F4B44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2858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6F9B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1B6F9B"/>
                </a:solidFill>
                <a:latin typeface="Bahnschrift"/>
                <a:ea typeface="Bahnschrift"/>
                <a:cs typeface="Bahnschrift"/>
              </a:rPr>
              <a:t>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C8A4B-F3F4-4121-82AB-3DF533DC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9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1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Card-first aligned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ABE4E-9157-4B39-B720-26E88D95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65.6%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BAD4BA-B819-4675-95F2-941AE934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28725"/>
            <a:ext cx="723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E0503-1234-4BA3-937E-B1BC841F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28725"/>
            <a:ext cx="47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AA6442-4FB7-4CF6-86B1-C3716E40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858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39128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E39128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7EE018-295F-4C3E-A458-4834946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09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1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Structured aligned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0CC9CA-CC56-4EB3-93D2-81C83820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907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34.4%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C3674-373C-4BB4-84A9-9B239DF8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28725"/>
            <a:ext cx="723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0"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726F6-4CB4-4968-90FE-53CC66F7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28725"/>
            <a:ext cx="47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91317C-B011-4499-ACB9-0C359154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2858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3A1AA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3A1AA"/>
                </a:solidFill>
                <a:latin typeface="Bahnschrift"/>
                <a:ea typeface="Bahnschrift"/>
                <a:cs typeface="Bahnschrift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CD3D4C-9041-4E2F-BFC4-45AB5634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097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1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Unrouted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1B8BDC-7825-47CD-AF27-45A1F2AE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0.0%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965120-BEDA-4E80-B029-868F52BE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3067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100% deterministic route coverage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264362-9D3E-4D57-8DE0-6FEC23CF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20119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34628C-7DBF-4B32-B515-8D6492F9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485" y="2219325"/>
            <a:ext cx="105506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13211-34F8-4BDD-8534-64256F79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4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21  card-first domain alignment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D99AFC-381F-40FB-A8EA-D93422B9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383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4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11  structured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BB2D7B-D7F5-4360-AD7F-FF656781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3067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85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Objective recipe alignment replaces the earlier subjective Strong / Partial / Generic-only scoring.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2AC51E-F96D-4425-9C8F-B89AD86E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95350"/>
            <a:ext cx="27146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DE2DBB-65F3-4C9D-BFAE-24810F1E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95350"/>
            <a:ext cx="2714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EF3DCE-956E-4F59-8D32-EF57D175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933450"/>
            <a:ext cx="2486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12 supported table domains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87C291-46AE-4CAC-8DDE-92A7F1EC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2287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9FF6A9-3045-4D79-9BAB-E576D74D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52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6F06C5-F2CA-42D6-8C60-CC63C4E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295400"/>
            <a:ext cx="504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weather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DC1362-D071-477E-B906-4DDBE4C4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287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C406BD-111A-4DCE-9685-2C7D70D0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352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988CFD-B111-4039-8BEA-37B424AA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295400"/>
            <a:ext cx="504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flight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0CFF45-6F21-4EB3-8D54-9962F234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2287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177A98-4028-41A6-A04C-274CC1A0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52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857046-BBE6-46C8-94F3-5F80413C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95400"/>
            <a:ext cx="504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booking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4AFEA4-B357-4796-8E78-F77572ED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002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C9C1B8-B491-48DE-96B3-564F4BBF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24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963E82-9E44-4CA7-BC26-75176C3C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66875"/>
            <a:ext cx="504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restaurants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1562F3-7284-4529-8F3C-CA4C1714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002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1470FB-4F06-4E17-A013-CC42C40C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24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A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72435C-AC71-4592-A443-1189F2D8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66875"/>
            <a:ext cx="504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schedule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A0DF90-E95F-4C96-B10F-BA268D58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002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88662F-6D8A-44FD-B8B9-1DC03444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24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2C3E9E-995C-4195-909B-AF645D9A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66875"/>
            <a:ext cx="504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7AB124-2DCD-4775-8DDD-59A3F44D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716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CF613F-6839-49FC-98CA-D9AF47A7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A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66EA76-AAB8-42B0-943B-CD4049D8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38350"/>
            <a:ext cx="504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playlist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7A8996-E039-444D-87E2-3CB59111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716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62E1FE-578D-4396-B4AD-198F624E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9E9858-5C64-41B5-82CA-A94543A6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38350"/>
            <a:ext cx="504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news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7AF3152-2CA9-4E35-85D8-8F809D1E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716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DC97E4-699B-4971-AED4-54B26291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95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A037E8-4F88-48B4-B20E-7D888AC7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38350"/>
            <a:ext cx="295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product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EBF54C-C190-4B95-AB3C-C1FDECB1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002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BA2AD21-2980-4D87-8F64-0B3B620E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9072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3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NEW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15C706-5ACE-4EEC-A6C6-18829179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431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CD7"/>
          </a:solidFill>
          <a:ln xmlns:a="http://schemas.openxmlformats.org/drawingml/2006/main" w="0"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E4C44AE-AB95-4FC7-97C6-6729A7FC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66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19FA7D8-B705-409C-BF01-653DBE08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09825"/>
            <a:ext cx="504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comparison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1A1E6B-2AC8-42A4-9477-2D7468DB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431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CD7"/>
          </a:solidFill>
          <a:ln xmlns:a="http://schemas.openxmlformats.org/drawingml/2006/main" w="0"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4AB138F-036F-441A-83F7-E1C96D3C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66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0A59991-74A8-499F-A456-C2FE5211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09825"/>
            <a:ext cx="504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formula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B914549-A0FD-4595-B4D9-C320D8DC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431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CD7"/>
          </a:solidFill>
          <a:ln xmlns:a="http://schemas.openxmlformats.org/drawingml/2006/main" w="0"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A4ED56A-F252-48ED-BA98-C95066BB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66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13A4D4-811E-438F-A561-032BF221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9825"/>
            <a:ext cx="504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generic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E32E143-41EA-43E6-B79B-FCFE94F2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8E16E0F-225E-41C9-8EF7-65BB5E1C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86050"/>
            <a:ext cx="685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card-first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301513-BDF3-4F26-9132-701100B6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7AD00D9-CF0D-4DB6-833F-2637081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895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structured table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DE973F4-D442-4AB2-A25F-0E3A609D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895350"/>
            <a:ext cx="50006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0E45FFF-A27A-4562-8358-96359200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895350"/>
            <a:ext cx="5000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E0BC16E-5221-4485-ACA9-99CED2B5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933450"/>
            <a:ext cx="477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Renderer template support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1088B43-1E9D-4B66-81C6-53F0F596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6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F3BF6D5-C8DA-4F4F-B28D-A20E7450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1920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Weather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8CD4C40-7177-4B0F-9325-ACEFA74C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219200"/>
            <a:ext cx="1057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hero, day cards, trend semantics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1C62217-665E-44EB-9040-6D6A6F97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097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22F8BAF-BE5C-4242-9952-93AD5F43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62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D8A5065-31DA-441A-A7A9-9F65B460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14475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Flight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409E698-F7C4-4A3D-9754-11F4B8F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14475"/>
            <a:ext cx="1057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ranked, multi-leg, native cards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010D959-90D4-43DA-9938-CB33BA67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0497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3AB7311-8E23-4D67-8FB4-DA8E7A8F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57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88228FF-3664-4B22-AB62-8543C237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Booking / Dining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41C908F-09CF-4B49-AA71-2DE68B23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809750"/>
            <a:ext cx="1057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media cards + row-local CTAs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C62CBA-8614-41E5-B9E9-D595FCA2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002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622112E-0535-49C8-A665-FE509AF2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52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A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F75246D-6711-46A0-BAED-1D8A48EF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05025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Schedule / Travel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A37B081-C1F5-45FD-999E-7853E0FB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05025"/>
            <a:ext cx="1057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itinerary, timeline, route cards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ACE8C4D-BC6A-47DA-BBB5-178B342A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955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7102D4B-4B37-4530-A070-68A4E17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47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C8531A0-BB91-4983-9B4B-DF7A7195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Status / Process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735180E-3BE8-42AF-BED8-F4A856C2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00300"/>
            <a:ext cx="1057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process cards, incident dashboard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1C26085-D1E1-4552-B9AE-82C3E69C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908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4C6766C-E494-4BC3-89D2-6493E0D4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26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061DDEB-C01D-463D-A08F-3970D92C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21920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Product / News / Music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66D33C7-8B51-4B35-9D6A-69E2B3A6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219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dedicated cards/rows + media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46537A4-4334-4B72-A4EA-D8FE38B7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4097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B0ED5EC-AF98-403E-980B-6A3F1405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62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185E03E-6728-4B9A-A8D1-FC7697ED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514475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Comparison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A7FF27E-F2AF-4630-8342-B1ECF2A2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5144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entity, feature and climate views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FD4586E-F687-4F74-A97E-9BE27FBC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04975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F1CC4EB-A8AB-4BB5-9837-1F588500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57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7530085-832A-43F7-8CDE-D934767E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80975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Formula / Finance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D18009F-535F-488E-9A22-6BFB4E01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097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equation, breakdown and holdings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63E063F-E7EF-46E6-AE49-1A821AC3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0025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8E59D5B-AFC0-417E-9BF5-829403CB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52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4DBE28D-3C05-4BF2-96F9-D748ACFE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105025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Generic tables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0073647-1FDF-416E-A4A7-7CA9DD10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050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key-value, metric and sticky grid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4F1ED3A-043F-4DE6-B7FE-EF6C9FE5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95525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4A9CF7D-B1EE-4CC7-94BA-A20B68D4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47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4563972-3CFD-4C5A-9ABF-DE61AB3E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0030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Cross-domain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60E4B07-487A-4859-BD30-D411985E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003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4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alerts, checklist, email, code + media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6B1BC08-6303-4485-B85F-FC1B9A92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908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DE1F03A-14C1-4A4F-A75E-58E1CA26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76575"/>
            <a:ext cx="219075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05EE87C-E495-4638-8D46-DEE01078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76575"/>
            <a:ext cx="2190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9990C7D-C600-4F19-A6C7-2179BC77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Runtime capability • manifest v2.0.0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1F50732-81FC-45F0-A5FF-A8425E5C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438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B6F9B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B6F9B"/>
                </a:solidFill>
                <a:latin typeface="Bahnschrift"/>
                <a:ea typeface="Bahnschrift"/>
                <a:cs typeface="Bahnschrift"/>
              </a:rPr>
              <a:t>25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3E3991C-A41D-461C-9697-B1B4B96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7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component renderers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DFE1FCD-1202-4F6D-86A9-1E8059F5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38575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8C2C249-13CF-4447-A0D3-0E8619BD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438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7805C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7805C"/>
                </a:solidFill>
                <a:latin typeface="Bahnschrift"/>
                <a:ea typeface="Bahnschrift"/>
                <a:cs typeface="Bahnschrift"/>
              </a:rPr>
              <a:t>6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258D7A0-E1BD-4C78-AF63-C41CB3C0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7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safe runtime actions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E0E1E10-ED42-438D-B960-E102A512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20E71EF-9DB3-479E-B974-4CC0B3EC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438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E39128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E39128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76D5AD4-308D-41A7-91EC-0C376C1F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7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chart subtypes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75428E1-A204-483C-A2B8-CD11AD0D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9F8E479-3640-45A5-8A46-38CD5412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62525"/>
            <a:ext cx="438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6C5A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6C5AA7"/>
                </a:solidFill>
                <a:latin typeface="Bahnschrift"/>
                <a:ea typeface="Bahnschrift"/>
                <a:cs typeface="Bahnschrift"/>
              </a:rPr>
              <a:t>21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6E8BB6F-2B7C-4DD1-9A00-D936C8E7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91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7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domain aliases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514CA03-8D4E-465B-BB47-3EBCE411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24475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C02B0B1-529E-4466-A7F8-01764833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8859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C670C54-F4C3-485D-84A5-9A1E5AC7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A7C5D7"/>
                </a:solidFill>
                <a:latin typeface="Segoe UI"/>
                <a:ea typeface="Segoe UI"/>
                <a:cs typeface="Segoe UI"/>
              </a:defRPr>
            </a:pPr>
            <a:r>
              <a:rPr sz="540" b="1">
                <a:solidFill>
                  <a:srgbClr val="A7C5D7"/>
                </a:solidFill>
                <a:latin typeface="Segoe UI"/>
                <a:ea typeface="Segoe UI"/>
                <a:cs typeface="Segoe UI"/>
              </a:rPr>
              <a:t>ACTIVE PRODUCER CONTRACT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91B3CF9-2D0C-4AC7-A8CB-7F0601CB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A2UI Express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4548042-5858-4330-BED6-6F6CE86A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91225"/>
            <a:ext cx="1885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1AA9AA3-D4B8-4C9A-B485-93F0A5E9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78" b="1">
                <a:solidFill>
                  <a:srgbClr val="1B6F9B"/>
                </a:solidFill>
                <a:latin typeface="Segoe UI"/>
                <a:ea typeface="Segoe UI"/>
                <a:cs typeface="Segoe UI"/>
              </a:defRPr>
            </a:pPr>
            <a:r>
              <a:rPr sz="578" b="1">
                <a:solidFill>
                  <a:srgbClr val="1B6F9B"/>
                </a:solidFill>
                <a:latin typeface="Segoe UI"/>
                <a:ea typeface="Segoe UI"/>
                <a:cs typeface="Segoe UI"/>
              </a:rPr>
              <a:t>Renderer support ≠ live-data availability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1F223A8-579B-455D-9339-9063AF34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76575"/>
            <a:ext cx="676275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591BFFD-FA72-46D7-81D6-63B683E0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76575"/>
            <a:ext cx="6762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7DCA650-93CE-49C5-B461-782E0FD3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14675"/>
            <a:ext cx="653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Intent coverage by deterministic renderer route • 32 / 32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30A988A-2DC5-44CE-8889-226387E9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3143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99C12F1-29D8-469C-8D19-E4CE5912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38525"/>
            <a:ext cx="142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3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3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#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26E7CF2-B65E-486D-BD9A-E5B4ECA3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438525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3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3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Intent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387236E-895A-4FEE-A0C6-342BD95D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385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3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3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Domain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2A7F098-31DC-45F8-B1E0-40F9A66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38525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3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3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Renderer recipe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D94B3BF-F427-4466-AA03-E4E52741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9092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B90CC52-015A-49CB-A080-AEF1AB1B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0045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C6F6681-4176-47ED-BDC3-1B29EAA2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0045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Information Retrieval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2D9C13B-DCCD-4284-B3BF-AD1F532C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004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E39128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E39128"/>
                </a:solidFill>
                <a:latin typeface="Segoe UI"/>
                <a:ea typeface="Segoe UI"/>
                <a:cs typeface="Segoe UI"/>
              </a:rPr>
              <a:t>generic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C07D3F6-8910-4A70-B574-6EA7E4F6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0045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Card + facts table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93EAEB7-9978-46A8-9F5C-3821B67D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4523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3375A2B-4038-43D2-A858-9ADB29FD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094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CF10709-42D6-445A-8A12-CA2B7E7F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6047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789526B-9936-47BA-BF6F-DDCB0984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76047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Entertainment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10F0398-B187-4409-906E-DCFA3854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6047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playlist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A11CD26-3379-42B8-ACBF-08D78165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6047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Playlist cards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D0C19B2-D091-4EE3-97DA-9831D5E2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0525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3DC9380-6FA1-487E-A299-AB1A4EA1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1096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6E46B26-DC5E-4BBD-91D2-56CD7A73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2049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52F6441-87D1-4952-94A9-476D8344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2049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product_lookup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5104811-1E77-47F7-A6B4-4845B085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2049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product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D133283-E9C2-425F-A39B-51D45E4B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2049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Product cards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7890B9F-7AC8-4473-9AB9-9F5DC522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6527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D821ABA-3231-4FD9-9D28-49EEFC79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7098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266D998-A185-4FD7-8A06-61567842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8051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E312140-1153-4231-811D-6E3ADD98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08051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Booking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180E7EB-5924-4FA4-A71B-967014F9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8051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booking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2005824-5BB0-483B-A5A2-060717A8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8051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Booking cards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6AB87FE-516E-4EC1-9BB1-0D62D819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2529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78AD7C4-689E-463E-B3FE-DC2AF12E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3100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EA15B6B-854B-48D7-8B44-19D47EFF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24053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CB6408D-6194-4DD7-B0D0-A27D048D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4053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weather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0625B47-71B5-4D10-AA54-C0E96A83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4053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weather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6467ACA-5BD0-4E4E-A085-3AF13853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4053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Native weather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448BA7E-4CAC-480F-BFA5-F9314E96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531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6DBB3D5-6793-4E44-80C8-667F2BED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9102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1BE9727-554B-4BE4-BA7D-48990E27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0055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2EE534D-9B03-4C44-896F-33450765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40055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data visualisation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4C5F5AF-EFD2-40DB-9A0D-0C3B3E0E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005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E39128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E39128"/>
                </a:solidFill>
                <a:latin typeface="Segoe UI"/>
                <a:ea typeface="Segoe UI"/>
                <a:cs typeface="Segoe UI"/>
              </a:rPr>
              <a:t>generic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592DE5D-D521-4EE5-B869-38A43ECC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0055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Chart + table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84470A4-E50A-4C6B-8CA5-9508C417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4533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04FE74C-D54E-40D4-AB0E-6C6E6D11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5104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1F5BC33-DB6A-489A-90F9-817BA0D6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6057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45FBC52-2006-4766-B9EE-81F15E01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56057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16DD56B-24A3-4D3E-BD3B-B895287F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057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schedule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8EF9161-7824-4D5E-9969-85CDBB53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6057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Schedule + checklist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D60A226-4B88-4DAB-80EB-6877FF60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0535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4F2A529-2682-4F0C-937A-AB2A65C9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1106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1A448A9-B81A-47E8-94BB-676A2903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72059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2633E51-E270-44C7-A6E6-35FF3FDC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72059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productivity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DFB98AB-8577-4DE5-89AC-6377D56A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2059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EE75F99-7CC9-4C29-8836-E9680E3A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2059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Checklist + status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F6378D2-A7FD-4781-9781-CC62E310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6537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91FDB8B-F6C8-43DE-A8DB-F99BD3EA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108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4B4E737-E7D9-4AFE-AFEB-1EE909F5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88061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0CE4584-EBF0-477B-98CC-60400E82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8061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Recipe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588A06D-57F8-4AC6-8586-2C73ACF8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8061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restaurants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EAFAA15D-F358-4524-A127-357794EA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8061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Hero + tabs + table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6C84A66-CE73-486D-8E87-799743E5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2539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DB8BC20-AF8E-4AC1-B513-5F52B1F6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3110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3300882-54FC-4F4E-B574-BBBDE2CC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04063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68087B47-1F33-4408-A144-4ADF13F5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4063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Localization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B374BB2-9747-4251-9CD8-20B8E2C6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4063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E39128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E39128"/>
                </a:solidFill>
                <a:latin typeface="Segoe UI"/>
                <a:ea typeface="Segoe UI"/>
                <a:cs typeface="Segoe UI"/>
              </a:rPr>
              <a:t>comparison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51C7D33-4341-4EA5-8667-531D6025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4063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Comparison cards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AF4D389E-A775-4A94-927A-94842FBF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8541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7C658EA-5996-44CD-A43A-C45C3B6C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9112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B5BD9888-490A-410A-8B3B-123301E5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20065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022C310-5BCD-48D9-AFBC-06460E1E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20065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Technical support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D00B0F0-6EA9-46E5-9788-64855E51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006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D2A5001-ABB4-4D86-9EAB-8E15625D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0065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Status + code/console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6E91BC2-8116-4E28-B013-80BBF79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4543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6099F34-6F21-46C2-956E-375D99B9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5114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030F0CB-026F-4951-8A71-81779DFC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36067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AED8939-A544-4B3B-9802-B589968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36067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Creating Writing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7D5BBAF-77D7-4ECF-8C94-0A9DBDB7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6067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E39128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E39128"/>
                </a:solidFill>
                <a:latin typeface="Segoe UI"/>
                <a:ea typeface="Segoe UI"/>
                <a:cs typeface="Segoe UI"/>
              </a:rPr>
              <a:t>generic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D4C77771-1877-458C-B14B-E9C46160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6067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Card + text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B08F863-0598-4520-9AC0-140C1B7B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0545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C4D6F3B-6DD5-4857-9912-5B1C470C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1116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36A5F75-CF1F-49E5-BB60-AA384AB0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52069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EFA48066-BF00-4F33-9DC4-BC542AB1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52069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Event Schedule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B8B6B4A-D24B-4481-8D28-1C7BCB4A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069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schedule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B1118DD-8416-4689-BA4F-EF951BE8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069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Timeline cards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21A30F8-4737-4AE3-B29C-8714CDCB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6547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E93B3CC-7589-4673-AE5C-260657A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7118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BBB49B2-A54C-4D75-A3C6-C5FECD30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68071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D1264FE-79A6-4A63-80BB-2787FD6E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68071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Research Analysis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6EE2AAC-F494-4184-B1D5-0B4AF921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8071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E39128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E39128"/>
                </a:solidFill>
                <a:latin typeface="Segoe UI"/>
                <a:ea typeface="Segoe UI"/>
                <a:cs typeface="Segoe UI"/>
              </a:rPr>
              <a:t>comparison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2108C32-B87B-45A5-8416-4DF667B2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68071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Evidence + comparison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F8393A2-2D15-4FCE-B864-0FC58770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82549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AD5E6893-F056-4090-903C-E9A25D0C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83120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3B73F5F-586F-436D-A550-4BC2109E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84073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3469646-F034-48C7-8F81-94BF671D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84073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Comparison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0C3CF57-F861-478F-A007-2E4F4729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84073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E39128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E39128"/>
                </a:solidFill>
                <a:latin typeface="Segoe UI"/>
                <a:ea typeface="Segoe UI"/>
                <a:cs typeface="Segoe UI"/>
              </a:rPr>
              <a:t>comparison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E0B3678-5FBC-4F23-9B29-3313C677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84073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Feature/entity view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6A1289A-1787-4DFD-9E11-051A85FD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98551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E7DDDD4-44DB-4D83-9627-1E33E1C1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99122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508DA50B-772A-4B17-A502-79E5170B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600075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46FD596-0FD7-4D1C-9C86-B26EEA38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00075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calculation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AF72D3A-49D7-4504-AB86-F7F9142E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007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E39128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E39128"/>
                </a:solidFill>
                <a:latin typeface="Segoe UI"/>
                <a:ea typeface="Segoe UI"/>
                <a:cs typeface="Segoe UI"/>
              </a:rPr>
              <a:t>formula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CDAC5B1-BABE-42BF-9EFD-B532D88F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00075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Formula + breakdown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B5D6875-2902-41C4-829E-9489B52A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14553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C5906FB-89FE-4AB2-AFEF-342D346C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3143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26E8FFF7-6E2D-4C9A-A67D-85D629F7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38525"/>
            <a:ext cx="142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3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3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#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06FACC9-D70E-4E97-A828-64BA0BDE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38525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3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3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Intent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7639D9A2-25A2-4594-9794-4CBDF322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385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3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3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Domain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E751ED2-FC64-411D-8B59-FC0519A7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38525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33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33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Renderer recipe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C317B81-F983-42FE-9F17-EEBAF789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9092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9063C647-810D-4036-A884-F848296E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2527A67D-928B-4A15-97E3-89FC4A38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0045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Travel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8B754BA-5FF2-4228-859C-E68A5FF5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04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schedule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6F7A49CF-8641-44FD-8545-B515662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Itinerary cards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A15F59C-9A97-4380-9E92-50F63184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4523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24B19EC-1DA5-4CBD-8066-9D915A34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094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F7A7B74A-AE48-4647-B218-B872BB2D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6047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40558C5A-5375-434A-A859-7A44BA22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6047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Navigation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5599D043-2CFF-4DF6-90B9-E9A43B89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6047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schedule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E1CC60B-F97A-4211-96F3-7703522E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6047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Route itinerary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544FABFB-73A2-458F-848D-3CFA0950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8D154AC3-CA7C-4C27-936A-0B0C82F0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1096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C3E0F6F-F914-46B0-AE26-B7913D2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2049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CC325784-6D05-4D2E-AF44-5F241417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92049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Education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70A9CBA-ACDF-4A2F-9EF1-6F576CAB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2049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schedule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36068DED-C5EE-49AB-A30C-E389563A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049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Study plan + checklist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32609973-9093-4FCF-BD1A-B8E5E1BA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527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34FF5A4-5D5C-469E-8A53-35EDA6C4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098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1B08E3A-8F30-45F6-9CD1-ED28CF53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8051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95B7EE2-3C03-48CB-B5DA-6F538E3D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08051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Documentation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5E1F812-C4F5-45AB-8112-9A538D4D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8051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E39128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E39128"/>
                </a:solidFill>
                <a:latin typeface="Segoe UI"/>
                <a:ea typeface="Segoe UI"/>
                <a:cs typeface="Segoe UI"/>
              </a:rPr>
              <a:t>generic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1E12B55-AB81-4984-9A3F-B8DA6CE5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8051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Code + API table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7915FDBC-EE16-4BFE-B4FC-7714EB0B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2529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BA81CEB7-F170-49B5-BAD4-2C8B307B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3100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D650F763-EEE4-413A-BE73-9A9D966C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4053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5A53DCBD-BC24-451A-A874-A93E1540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24053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media playback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99DFEC64-13B6-4D4D-87B5-C9B0CAFC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4053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E39128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E39128"/>
                </a:solidFill>
                <a:latin typeface="Segoe UI"/>
                <a:ea typeface="Segoe UI"/>
                <a:cs typeface="Segoe UI"/>
              </a:rPr>
              <a:t>generic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EAE129A8-1B97-4BD2-B806-1A26FE02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053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Video/audio poster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DAD2E088-C117-494D-A8CE-8C5B4B53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531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0039397A-E03F-4234-AD32-C97443CE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9102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2E81B2C1-1BC9-48E0-A2BF-44EF8BF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0055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D2DCD708-2B6E-4ECA-B7C1-E90AD260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40055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qr scanner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7404208-6688-46EE-8C7B-FEEC258F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005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22240B5A-FA24-4825-83FA-2969436E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Alert + status flow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CFC6AB2-B619-4085-B9CD-3EA2BCDF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4533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EB99B89-E7C2-458D-A087-A324AB59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104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DCB5DA9-CF8A-4A22-8CDC-F7E9960B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6057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4BCED73-3A9D-4181-9F53-3CBB8AF5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6057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status check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1894F9AD-7FD3-45D7-BC88-D58AACE7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6057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C950A3A1-FE2D-4472-B0F7-7F7E98CF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057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Alert + incident view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2527124C-8300-43A7-B9E9-157E5C5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E4A8AF0B-CE64-4F41-AC92-5B608DB8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1106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F751D262-737B-4818-AB06-76E52DB2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2059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27EA4997-BBF4-4E28-922B-5A939E9D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2059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notification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AA481E6F-CC9F-4D6D-AF78-74D905FC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2059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9B702418-2AE2-459F-A0D6-2BF952E8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059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Alert/message</a:t>
            </a: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1C4CC686-B4F3-4337-8B20-C87FF946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6537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458B3EA2-FB90-4A69-B072-E0286BEA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108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A58A468-3047-487D-BECF-868134AA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8061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C8E516AC-FC2A-44B7-B756-3ED89D5F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88061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Finance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6D6FB0BE-91E2-4CAF-BA3E-F546727E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8061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E39128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E39128"/>
                </a:solidFill>
                <a:latin typeface="Segoe UI"/>
                <a:ea typeface="Segoe UI"/>
                <a:cs typeface="Segoe UI"/>
              </a:rPr>
              <a:t>comparison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66A2AD5-0656-4369-AF65-311685FF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8061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Formula + market table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E8868316-C3DF-41FB-AFFF-46EED2A1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539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83FF1B5B-EE6F-4222-8839-223C50EE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3110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CAB7140-9413-49DC-9672-9A9BD624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04063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9679A82F-796B-48B6-8442-BCB3D2A2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4063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Healthcare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7690EA46-C650-4780-A42B-34198BF3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4063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E5621F7C-1930-47B7-9A3C-0BCDDFB5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063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Checklist + alert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DFA2A5AF-A337-4B12-A1FC-1E060466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8541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1ECA8F1F-2C20-48F9-8FAD-871EF67B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9112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13EB827-E949-432A-81CE-9E84FEAF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20065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3358EA9E-DDF6-43BB-9046-9B794276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0065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Legal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03074DB3-E6E4-4B86-8863-FBC37BFE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006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6E9E1FB4-7339-4805-AA7D-DCA65D42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0065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Checklist + alert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91EDA9BD-72FB-4A7C-A050-92A0DEA5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4543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83AA3E8-B175-4E78-9EAC-93A12D08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5114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C1850637-CA0C-4291-B591-A3A0EBEB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6067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16B320F0-B9F2-447F-88E4-5686A9CA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36067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Real Estate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9E03944B-E02C-4B77-B563-1FDDF053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6067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E39128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E39128"/>
                </a:solidFill>
                <a:latin typeface="Segoe UI"/>
                <a:ea typeface="Segoe UI"/>
                <a:cs typeface="Segoe UI"/>
              </a:rPr>
              <a:t>comparison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DC08F5AC-05A0-4975-82CE-35670FC4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6067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Property comparison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C2661F4F-7C1F-47A5-ABEE-73C191DA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0545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97186D28-8370-4363-914E-8AF62B9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1116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0A4AC277-F581-461A-B246-5892DD16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52069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23901083-F4FB-4934-81F2-42953835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52069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Career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5361323F-ADC6-4A5A-BA6E-0E317269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069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C89141CA-D5D2-4477-B0E7-1628D752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2069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Checklist + email preview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FDFB9593-B08D-429C-8BAB-EB6F7907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6547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931280E6-9053-4BD2-9AE2-CC1CF87E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7118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487A04F6-C9A9-4516-BE9A-089A7E94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68071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6815888D-2DE3-42FE-AE27-AFC95C91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68071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Food and Dining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001915B8-CCE2-4F1F-BCDE-0070284C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8071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restaurants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333E31DA-0C7F-42B1-9E4B-3658628F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8071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Restaurant cards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0DFA03D1-9363-4931-A278-83E7DBB3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2549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40AA3CB6-5515-46E8-9AC9-2C56150B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3120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BEE0BF5-3F23-462F-A83C-C74AB5C9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84073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31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794E868C-A8BB-4DB2-A9DF-B06F41AA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84073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Home Services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B52C30DE-C135-48AD-8980-4D2AFD91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4073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booking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02D73A29-C786-40A3-A2E6-99D893AA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4073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Booking + checklist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77B92FBF-301C-4B9E-A163-ACBC8058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98551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86254E08-E825-486E-8F53-BE560C95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991225"/>
            <a:ext cx="314325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515C65B2-6630-4016-8119-9BF7C66D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6000750"/>
            <a:ext cx="161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E3C3E1EF-F3AA-4801-A109-752DEDCB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6000750"/>
            <a:ext cx="962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510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Automotive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4EFA21C6-91FC-4D4D-BEEA-9E581FD6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0007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" b="1">
                <a:solidFill>
                  <a:srgbClr val="17805C"/>
                </a:solidFill>
                <a:latin typeface="Segoe UI"/>
                <a:ea typeface="Segoe UI"/>
                <a:cs typeface="Segoe UI"/>
              </a:defRPr>
            </a:pPr>
            <a:r>
              <a:rPr sz="495" b="1">
                <a:solidFill>
                  <a:srgbClr val="17805C"/>
                </a:solidFill>
                <a:latin typeface="Segoe UI"/>
                <a:ea typeface="Segoe UI"/>
                <a:cs typeface="Segoe UI"/>
              </a:rPr>
              <a:t>product</a:t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13DBEB7F-533A-4251-AE19-3BB98C4D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00075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488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Product + service checklist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27C9C44C-3FDD-4366-AF2E-AE419CDE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145530"/>
            <a:ext cx="31432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E943FC34-93BD-4E37-AC47-09711AA8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172200"/>
            <a:ext cx="6496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10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Domain is the recipe's primary alignment; the listed renderer components are the concrete presentation route.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8509A012-8BD8-426D-9305-4FF77300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76575"/>
            <a:ext cx="20955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E5E611D2-9C53-4C32-B043-CB253C58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76575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56DC43C5-5700-413A-A031-EAE2328D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1467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What improved since the old slide</a:t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877C279B-8779-4339-9C0A-65994C08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67B8D2BC-68B9-4E36-8853-68C0115A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57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171603C-83EC-40EE-8546-5867A642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4290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1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Information retrieval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39B290A-A104-4399-80A0-CE1A686E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56235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33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Card + structured facts table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F24198C6-00A5-475B-8D7D-47F0A8FF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71900"/>
            <a:ext cx="178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DF1C2B4B-BF43-488E-B862-7DB30319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48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B1793463-60B9-4A7D-96B3-04B01851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38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3DC0B72A-2BC3-4168-AF97-865E2CA6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8100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1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QR scanner</a:t>
            </a: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03C8D914-A18E-487E-9AF0-E61711FA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94335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33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Alert + status flow; camera remains external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0F97C294-EF16-47CB-998F-D26FCCB8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52900"/>
            <a:ext cx="178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93FA2DF1-29FC-4538-912C-31C69B2E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29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FE283481-43BD-41DC-B51D-FAE9448A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19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C74CB3B7-FC80-4EEC-A7D4-B3A21E53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1910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1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Notification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2519959A-2C8D-4622-A54C-234F73CE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32435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33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Alert with tone, time, source and actions</a:t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0EC7CA6A-3259-49ED-8E98-3A9F286E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533900"/>
            <a:ext cx="178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FCEB584D-BDE5-4664-824F-AE7E4E90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10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084E6AB9-DD8B-40DC-89BB-0EA49062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00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A6AACD39-1916-45A3-825F-B4F2D133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720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1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Healthcare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E80E7BA4-52D2-4D34-8F2E-A5C71AF8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70535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33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Presentation-only Checklist + Alert</a:t>
            </a:r>
          </a:p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412C19E6-1CD4-4BB4-9222-D17ABA37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14900"/>
            <a:ext cx="178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36C4C576-3000-4788-ACD7-8D8882C8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91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A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4FEEF47D-E03D-415A-A0FF-D78999A4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81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8D685B2E-2D55-4EEB-90C4-EA6B48F0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9530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1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Legal</a:t>
            </a:r>
          </a:p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232717DE-9C4B-4E85-9DA7-BBA37146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8635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33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Sourced Checklist + Alert + disclaimer</a:t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14365E7B-C3BA-472F-B870-29236FAB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95900"/>
            <a:ext cx="178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ECAD204F-A20E-45D5-B922-9C37D52F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72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23A26BE9-4727-4FA9-B04E-3E093908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62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0019E6CB-81BC-4D0A-843D-EF768C77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3340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1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Career</a:t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945CEB70-28B5-4582-9233-425052F8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46735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33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Checklist + EmailPreview + Card</a:t>
            </a:r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BE27CFB8-885E-4BC3-B4B8-906F367A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676900"/>
            <a:ext cx="178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28F4BDD3-8858-4D7C-830F-BA4B5FD6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53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8F08ED9D-FD58-4AA4-9E8B-0C86B017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43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A7E2A18E-446E-49DA-B88F-C3F4DF8F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150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2304A"/>
                </a:solidFill>
                <a:latin typeface="Segoe UI"/>
                <a:ea typeface="Segoe UI"/>
                <a:cs typeface="Segoe UI"/>
              </a:defRPr>
            </a:pPr>
            <a:r>
              <a:rPr sz="615" b="1">
                <a:solidFill>
                  <a:srgbClr val="12304A"/>
                </a:solidFill>
                <a:latin typeface="Segoe UI"/>
                <a:ea typeface="Segoe UI"/>
                <a:cs typeface="Segoe UI"/>
              </a:rPr>
              <a:t>Product lookup</a:t>
            </a: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35D5CF0B-8E0E-411E-AFC3-BFCB9A13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84835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33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First-class Product cards + row actions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551EFC4F-CD85-4055-B96B-82C2307F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057900"/>
            <a:ext cx="178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23C27531-A00F-4E32-8A3E-800E4DA4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BB1C2097-C2AF-4FCF-88E7-A5A0096E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885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25" b="0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Source: dataset/schema/renderer_capabilities.json • dataset/schema/intent_renderer_recipes.json • Android renderer routes</a:t>
            </a:r>
          </a:p>
        </p:txBody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5D6DC2B8-770A-43BF-90BC-589A715D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591300"/>
            <a:ext cx="2209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525" b="1">
                <a:solidFill>
                  <a:srgbClr val="63717C"/>
                </a:solidFill>
                <a:latin typeface="Segoe UI"/>
                <a:ea typeface="Segoe UI"/>
                <a:cs typeface="Segoe UI"/>
              </a:defRPr>
            </a:pPr>
            <a:r>
              <a:rPr sz="525" b="1">
                <a:solidFill>
                  <a:srgbClr val="63717C"/>
                </a:solidFill>
                <a:latin typeface="Segoe UI"/>
                <a:ea typeface="Segoe UI"/>
                <a:cs typeface="Segoe UI"/>
              </a:rPr>
              <a:t>Current as of 05 Aug 2026</a:t>
            </a:r>
          </a:p>
        </p:txBody>
      </p:sp>
    </p:spTree>
    <p:extLst>
      <p:ext uri="{BB962C8B-B14F-4D97-AF65-F5344CB8AC3E}">
        <p14:creationId xmlns:p14="http://schemas.microsoft.com/office/powerpoint/2010/main" val="441109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2026-08-04T19:49:49.4670000Z</dcterms:created>
  <dcterms:modified xsi:type="dcterms:W3CDTF">2026-08-04T19:49:49.4670000Z</dcterms:modified>
</coreProperties>
</file>