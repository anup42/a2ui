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81120a5d5d6420b" /><Relationship Type="http://schemas.openxmlformats.org/officeDocument/2006/relationships/extended-properties" Target="/docProps/app.xml" Id="R06e999eb664e4d41" /><Relationship Type="http://schemas.openxmlformats.org/officeDocument/2006/relationships/officeDocument" Target="/ppt/presentation.xml" Id="Rd8290518a5b44f9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a3442d2430241eb"/>
  </p:sldMasterIdLst>
  <p:notesMasterIdLst>
    <p:notesMasterId xmlns:r="http://schemas.openxmlformats.org/officeDocument/2006/relationships" r:id="R5ccd3973c9944d81"/>
  </p:notesMasterIdLst>
  <p:sldIdLst>
    <p:sldId xmlns:r="http://schemas.openxmlformats.org/officeDocument/2006/relationships" id="256" r:id="Ra7efa689a3714f3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c721b1cbcac42a9" /><Relationship Type="http://schemas.openxmlformats.org/officeDocument/2006/relationships/slideMaster" Target="/ppt/slideMasters/slideMaster1.xml" Id="Rba3442d2430241eb" /><Relationship Type="http://schemas.openxmlformats.org/officeDocument/2006/relationships/notesMaster" Target="/ppt/notesMasters/notesMaster1.xml" Id="R5ccd3973c9944d81" /><Relationship Type="http://schemas.openxmlformats.org/officeDocument/2006/relationships/presProps" Target="/ppt/presProps.xml" Id="R93c411f295054b51" /><Relationship Type="http://schemas.openxmlformats.org/officeDocument/2006/relationships/tableStyles" Target="/ppt/tableStyles.xml" Id="Rfa965c21fb0041f4" /><Relationship Type="http://schemas.openxmlformats.org/officeDocument/2006/relationships/slide" Target="/ppt/slides/slide1.xml" Id="Ra7efa689a3714f3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49242b9508e45c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3f30156456d47c5" /><Relationship Type="http://schemas.openxmlformats.org/officeDocument/2006/relationships/notesMaster" Target="/ppt/notesMasters/notesMaster1.xml" Id="R4a6eee35de52411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Purpose: one-slide explanation of the actual A2UI project training/export flow as of 29 September 2026. Editable native diagram, not an illustration of a new training recipe.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ARCHITECTURE SOURCES (checked 2026-09-29)</a:t>
            </a:r>
          </a:p>
          <a:p xmlns:a="http://schemas.openxmlformats.org/drawingml/2006/main">
            <a:r>
              <a:t>Google Gemma 4 model card: https://ai.google.dev/gemma/docs/core/model_card_4</a:t>
            </a:r>
          </a:p>
          <a:p xmlns:a="http://schemas.openxmlformats.org/drawingml/2006/main">
            <a:r>
              <a:t>Official E2B config: https://huggingface.co/google/gemma-4-E2B-it/blob/main/config.json</a:t>
            </a:r>
          </a:p>
          <a:p xmlns:a="http://schemas.openxmlformats.org/drawingml/2006/main">
            <a:r>
              <a:t>Google Gemma 4 technical report (Table 1, Section 2 and 2.6): https://arxiv.org/html/2607.02770v2</a:t>
            </a:r>
          </a:p>
          <a:p xmlns:a="http://schemas.openxmlformats.org/drawingml/2006/main">
            <a:r>
              <a:t>Official mobile QAT model: https://huggingface.co/google/gemma-4-E2B-it-qat-mobile-transformers</a:t>
            </a:r>
          </a:p>
          <a:p xmlns:a="http://schemas.openxmlformats.org/drawingml/2006/main">
            <a:r>
              <a:t>E2B has 2.3B effective parameters; complete model total is 5.1B including per-layer embeddings and vision/audio encoders. This slide depicts only our text training path, not a claim that all multimodal weights are trained or resident in memory. Text backbone: 35 decoder layers, width 1536, 256-dimensional per-layer token embeddings (PLE). Attention repeats four 512-token local layers and one global layer seven times. Do not claim K=V tying for E2B: its config has attention_k_eq_v=false. Target KV is shared across 20 of 35 layers.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ACTUAL TRAINING RUN</a:t>
            </a:r>
          </a:p>
          <a:p xmlns:a="http://schemas.openxmlformats.org/drawingml/2006/main">
            <a:r>
              <a:t>Local run receipt: C:/Users/anupk/Downloads/r64_lora_litert_metadata/best_golden_checkpoint.training_metadata.json</a:t>
            </a:r>
          </a:p>
          <a:p xmlns:a="http://schemas.openxmlformats.org/drawingml/2006/main">
            <a:r>
              <a:t>runD qat_lora_sft: rank=64, alpha=64, dropout=0; 96,632,832 trainable of 5,127,855,360 parameters including adapters, 410 A/B tensors. 205 LoRA target projections: q/o and gate/up/down in all 35 layers, k/v only in layers 0-14 due to shared KV. Base model reconstructed in BF16 from verified official mobile QAT seed. Training pairs are agent response and A2UI Express completion. Clipped straight-through estimator (STE) updates LoRA only. Best Golden32 checkpoint step 9000, epoch 3.161. Training used eight GPUs, effective batch 32.</a:t>
            </a:r>
          </a:p>
          <a:p xmlns:a="http://schemas.openxmlformats.org/drawingml/2006/main">
            <a:r>
              <a:t>Code: training/src/ir_training/train/sft.py (228-283, 607-625); training/src/ir_training/qat/fake_quant.py (883-930, 1299-1311).</a:t>
            </a:r>
          </a:p>
          <a:p xmlns:a="http://schemas.openxmlformats.org/drawingml/2006/main">
            <a:r>
              <a:t>QAT forward: fixed-scale A8 input fake quant; W_eff = BF16(W_base + BF16(FP32 LoRA delta)); retained-scale W2/W4 fake quant of this effective matrix; linear; A8 output fake quant. Base weights, embeddings and quantization scales remain frozen. Frozen W8 FC activation edges are also simulated, while W8 weights remain unchanged.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ACTUAL CORRECTED EXPORT</a:t>
            </a:r>
          </a:p>
          <a:p xmlns:a="http://schemas.openxmlformats.org/drawingml/2006/main">
            <a:r>
              <a:t>Receipt: GenUICraft/validation/20260928_r64_qat_reexport/export_audit/device_export_report.json</a:t>
            </a:r>
          </a:p>
          <a:p xmlns:a="http://schemas.openxmlformats.org/drawingml/2006/main">
            <a:r>
              <a:t>Audit: GenUICraft/validation/20260928_r64_qat_reexport/export_audit/REPORT.md</a:t>
            </a:r>
          </a:p>
          <a:p xmlns:a="http://schemas.openxmlformats.org/drawingml/2006/main">
            <a:r>
              <a:t>Exporter: training/scripts/build_gemma4_retained_scale_litertlm.py (1538-1620, 1720-1740).</a:t>
            </a:r>
          </a:p>
          <a:p xmlns:a="http://schemas.openxmlformats.org/drawingml/2006/main">
            <a:r>
              <a:t>Export mode retained_scale_qat_compatible_weights_v1, arithmetic qat_bf16_delta_before_add_v1. Reconstruct effective adapted weights with CPU FP32 LoRA matmul and BF16-rounded delta before addition; encode using original retained scales; patch exactly the 205 mapped W2/W4 buffers in the original mobile target section. This is not naive BF16 merge followed by generic re-quantization. Preserve 72 frozen buffers (including W8 paths), all seed weight/A8 activation qparams, graph layout, tokenizer, metadata and non-target sections. All 205 code/dequantized-forward parity checks pass against CPU QAT calculation; native_inference_parity_verified=false. These gates do not certify CUDA checkpoint versus native mobile behavior.</a:t>
            </a:r>
          </a:p>
          <a:p xmlns:a="http://schemas.openxmlformats.org/drawingml/2006/main">
            <a:r>
              <a:t>Runtime profile: GenUICraft/validation/20260928_gpu_fp32_app/REPORT.md and GenUiModelProfiles.trainedE2b in GenUICraft/genuicraft/src/main/java/com/samsung/genuicraft/sdk/GenUiSession.kt. The SDK selects GPU FP32 activation/arithmetic preference; exported weight codes remain mixed W2/W4/W8, not FP32 weights. The architecture maximum context is not the configured SDK context. The SDK uses 8192 context and 2048 output tokens.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MTP DETAILS</a:t>
            </a:r>
          </a:p>
          <a:p xmlns:a="http://schemas.openxmlformats.org/drawingml/2006/main">
            <a:r>
              <a:t>Google MTP overview: https://ai.google.dev/gemma/docs/mtp/overview</a:t>
            </a:r>
          </a:p>
          <a:p xmlns:a="http://schemas.openxmlformats.org/drawingml/2006/main">
            <a:r>
              <a:t>Google inference guide: https://ai.google.dev/gemma/docs/mtp/mtp</a:t>
            </a:r>
          </a:p>
          <a:p xmlns:a="http://schemas.openxmlformats.org/drawingml/2006/main">
            <a:r>
              <a:t>Assistant config: https://huggingface.co/google/gemma-4-E2B-it-assistant/blob/main/config.json</a:t>
            </a:r>
          </a:p>
          <a:p xmlns:a="http://schemas.openxmlformats.org/drawingml/2006/main">
            <a:r>
              <a:t>HF assistant documentation: https://huggingface.co/docs/transformers/model_doc/gemma4_assistant</a:t>
            </a:r>
          </a:p>
          <a:p xmlns:a="http://schemas.openxmlformats.org/drawingml/2006/main">
            <a:r>
              <a:t>The original separate E2B assistant is approximately 76M parameters, four layers and width 256 (three local, one global). It reuses target token embeddings, final hidden-state features and target KV cache, avoiding independent prefill. It proposes several tokens autoregressively; the target verifies them together, accepts a prefix, and continues at first rejection with a target-produced token. Correct speculative verification is designed to preserve the target distribution; no claim of measured native parity is made here. Actual speedup depends on draft acceptance, runtime and thermal state.</a:t>
            </a:r>
          </a:p>
          <a:p xmlns:a="http://schemas.openxmlformats.org/drawingml/2006/main">
            <a:r>
              <a:t>The project's training metadata does not jointly train the assistant. Export preserves the MTP graph byte-for-byte; mtp_assistant_trained_or_modified=false. Toggle is available in the app/SDK through speculative decoding configuration. No full Bixby50 MTP performance claim is made in this slide.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15c734438fd48f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22e1fd9aa9147ab" /><Relationship Type="http://schemas.openxmlformats.org/officeDocument/2006/relationships/slideLayout" Target="/ppt/slideLayouts/slideLayout1.xml" Id="R22b2ff10b6164db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2b2ff10b6164db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fdaa352a2f487a" /><Relationship Type="http://schemas.openxmlformats.org/officeDocument/2006/relationships/notesSlide" Target="/ppt/notesSlides/notesSlide1.xml" Id="R2b826062c4ca44b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" name="title">
            <a:extLst xmlns:a="http://schemas.openxmlformats.org/drawingml/2006/main">
              <a:ext uri="{FF2B5EF4-FFF2-40B4-BE49-F238E27FC236}">
                <a16:creationId xmlns:a16="http://schemas.microsoft.com/office/drawing/2014/main" id="{221C1782-DB35-4D48-BCE1-A9FA43B35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75" b="1">
                <a:solidFill>
                  <a:srgbClr val="142D4E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142D4E"/>
                </a:solidFill>
                <a:latin typeface="Arial"/>
                <a:ea typeface="Arial"/>
                <a:cs typeface="Arial"/>
              </a:rPr>
              <a:t>Gemma 4 E2B: QAT LoRA-64 to on-device A2UI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77DE558B-C1A9-4231-9DCB-2EDBC2EB4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33450"/>
            <a:ext cx="11277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0617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06178"/>
                </a:solidFill>
                <a:latin typeface="Arial"/>
                <a:ea typeface="Arial"/>
                <a:cs typeface="Arial"/>
              </a:rPr>
              <a:t>Train the target model, preserve the mobile package, and optionally accelerate decoding with MTP.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1A836C71-BBFB-4A0F-BA3F-CE22C9A14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23975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4EC"/>
            </a:solidFill>
          </a:ln>
        </p:spPr>
      </p:sp>
      <p:sp>
        <p:nvSpPr>
          <p:cNvPr id="4" name="column-divider-1">
            <a:extLst xmlns:a="http://schemas.openxmlformats.org/drawingml/2006/main">
              <a:ext uri="{FF2B5EF4-FFF2-40B4-BE49-F238E27FC236}">
                <a16:creationId xmlns:a16="http://schemas.microsoft.com/office/drawing/2014/main" id="{0053363A-9C49-488B-914A-88F87DB3A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675" y="1562100"/>
            <a:ext cx="0" cy="28194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4EC"/>
            </a:solidFill>
          </a:ln>
        </p:spPr>
      </p:sp>
      <p:sp>
        <p:nvSpPr>
          <p:cNvPr id="5" name="column-divider-2">
            <a:extLst xmlns:a="http://schemas.openxmlformats.org/drawingml/2006/main">
              <a:ext uri="{FF2B5EF4-FFF2-40B4-BE49-F238E27FC236}">
                <a16:creationId xmlns:a16="http://schemas.microsoft.com/office/drawing/2014/main" id="{297E632F-3D60-45F6-8DD9-200F9C223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1475" y="1562100"/>
            <a:ext cx="0" cy="28194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4EC"/>
            </a:solidFill>
          </a:ln>
        </p:spPr>
      </p:sp>
      <p:sp>
        <p:nvSpPr>
          <p:cNvPr id="6" name="architecture-heading">
            <a:extLst xmlns:a="http://schemas.openxmlformats.org/drawingml/2006/main">
              <a:ext uri="{FF2B5EF4-FFF2-40B4-BE49-F238E27FC236}">
                <a16:creationId xmlns:a16="http://schemas.microsoft.com/office/drawing/2014/main" id="{8FBC4A97-5AD7-4913-BE33-DC9F24CFF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24000"/>
            <a:ext cx="3162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5CD3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75CD3"/>
                </a:solidFill>
                <a:latin typeface="Arial"/>
                <a:ea typeface="Arial"/>
                <a:cs typeface="Arial"/>
              </a:rPr>
              <a:t>01  E2B ARCHITECTURE</a:t>
            </a:r>
          </a:p>
        </p:txBody>
      </p:sp>
      <p:sp>
        <p:nvSpPr>
          <p:cNvPr id="7" name="architecture-effective">
            <a:extLst xmlns:a="http://schemas.openxmlformats.org/drawingml/2006/main">
              <a:ext uri="{FF2B5EF4-FFF2-40B4-BE49-F238E27FC236}">
                <a16:creationId xmlns:a16="http://schemas.microsoft.com/office/drawing/2014/main" id="{F48BCF2A-06BB-4153-997A-334E782E9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47850"/>
            <a:ext cx="31623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0617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06178"/>
                </a:solidFill>
                <a:latin typeface="Arial"/>
                <a:ea typeface="Arial"/>
                <a:cs typeface="Arial"/>
              </a:rPr>
              <a:t>2.3B effective parameters • text path</a:t>
            </a:r>
          </a:p>
        </p:txBody>
      </p:sp>
      <p:sp>
        <p:nvSpPr>
          <p:cNvPr id="8" name="response-input">
            <a:extLst xmlns:a="http://schemas.openxmlformats.org/drawingml/2006/main">
              <a:ext uri="{FF2B5EF4-FFF2-40B4-BE49-F238E27FC236}">
                <a16:creationId xmlns:a16="http://schemas.microsoft.com/office/drawing/2014/main" id="{021B9F13-0A9D-4EED-9AA6-D5AF83044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09800"/>
            <a:ext cx="2571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9D7EA"/>
            </a:solidFill>
          </a:ln>
        </p:spPr>
      </p:sp>
      <p:sp>
        <p:nvSpPr>
          <p:cNvPr id="9" name="response-label">
            <a:extLst xmlns:a="http://schemas.openxmlformats.org/drawingml/2006/main">
              <a:ext uri="{FF2B5EF4-FFF2-40B4-BE49-F238E27FC236}">
                <a16:creationId xmlns:a16="http://schemas.microsoft.com/office/drawing/2014/main" id="{75BDB85E-7D17-4FD3-B9DE-92C2EB1A7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95525"/>
            <a:ext cx="2419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42D4E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42D4E"/>
                </a:solidFill>
                <a:latin typeface="Arial"/>
                <a:ea typeface="Arial"/>
                <a:cs typeface="Arial"/>
              </a:rPr>
              <a:t>Response / Markdown tokens</a:t>
            </a:r>
          </a:p>
        </p:txBody>
      </p:sp>
      <p:sp>
        <p:nvSpPr>
          <p:cNvPr id="10" name="decoder-target">
            <a:extLst xmlns:a="http://schemas.openxmlformats.org/drawingml/2006/main">
              <a:ext uri="{FF2B5EF4-FFF2-40B4-BE49-F238E27FC236}">
                <a16:creationId xmlns:a16="http://schemas.microsoft.com/office/drawing/2014/main" id="{3AEA3337-7E11-4157-A861-825EEF479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28925"/>
            <a:ext cx="28384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6FE"/>
          </a:solidFill>
          <a:ln xmlns:a="http://schemas.openxmlformats.org/drawingml/2006/main" w="11430">
            <a:solidFill>
              <a:srgbClr val="C9D7EA"/>
            </a:solidFill>
          </a:ln>
        </p:spPr>
      </p:sp>
      <p:sp>
        <p:nvSpPr>
          <p:cNvPr id="11" name="decoder-layer-count">
            <a:extLst xmlns:a="http://schemas.openxmlformats.org/drawingml/2006/main">
              <a:ext uri="{FF2B5EF4-FFF2-40B4-BE49-F238E27FC236}">
                <a16:creationId xmlns:a16="http://schemas.microsoft.com/office/drawing/2014/main" id="{B6337624-1987-4760-A31D-FE796CAA5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952750"/>
            <a:ext cx="25146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42D4E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42D4E"/>
                </a:solidFill>
                <a:latin typeface="Arial"/>
                <a:ea typeface="Arial"/>
                <a:cs typeface="Arial"/>
              </a:rPr>
              <a:t>35 decoder layers</a:t>
            </a:r>
          </a:p>
        </p:txBody>
      </p:sp>
      <p:sp>
        <p:nvSpPr>
          <p:cNvPr id="12" name="decoder-width-ple">
            <a:extLst xmlns:a="http://schemas.openxmlformats.org/drawingml/2006/main">
              <a:ext uri="{FF2B5EF4-FFF2-40B4-BE49-F238E27FC236}">
                <a16:creationId xmlns:a16="http://schemas.microsoft.com/office/drawing/2014/main" id="{0CEB9636-3D4A-45F6-A234-914AB8F54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14700"/>
            <a:ext cx="26098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13" b="0">
                <a:solidFill>
                  <a:srgbClr val="142D4E"/>
                </a:solidFill>
                <a:latin typeface="Arial"/>
                <a:ea typeface="Arial"/>
                <a:cs typeface="Arial"/>
              </a:defRPr>
            </a:pPr>
            <a:r>
              <a:rPr sz="1313" b="0">
                <a:solidFill>
                  <a:srgbClr val="142D4E"/>
                </a:solidFill>
                <a:latin typeface="Arial"/>
                <a:ea typeface="Arial"/>
                <a:cs typeface="Arial"/>
              </a:rPr>
              <a:t>Width 1,536 • PLE 256 per layer</a:t>
            </a:r>
          </a:p>
        </p:txBody>
      </p:sp>
      <p:sp>
        <p:nvSpPr>
          <p:cNvPr id="13" name="decoder-attention">
            <a:extLst xmlns:a="http://schemas.openxmlformats.org/drawingml/2006/main">
              <a:ext uri="{FF2B5EF4-FFF2-40B4-BE49-F238E27FC236}">
                <a16:creationId xmlns:a16="http://schemas.microsoft.com/office/drawing/2014/main" id="{9559FDA1-914F-4CAC-9992-2F64C6BBC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90925"/>
            <a:ext cx="2609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38" b="0">
                <a:solidFill>
                  <a:srgbClr val="506178"/>
                </a:solidFill>
                <a:latin typeface="Arial"/>
                <a:ea typeface="Arial"/>
                <a:cs typeface="Arial"/>
              </a:defRPr>
            </a:pPr>
            <a:r>
              <a:rPr sz="1238" b="0">
                <a:solidFill>
                  <a:srgbClr val="506178"/>
                </a:solidFill>
                <a:latin typeface="Arial"/>
                <a:ea typeface="Arial"/>
                <a:cs typeface="Arial"/>
              </a:rPr>
              <a:t>4 local (512) + 1 global, repeated</a:t>
            </a:r>
          </a:p>
        </p:txBody>
      </p:sp>
      <p:cxnSp>
        <p:nvCxnSpPr>
          <p:cNvPr id="66" name=""/>
          <p:cNvCxnSpPr>
            <a:stCxn xmlns:a="http://schemas.openxmlformats.org/drawingml/2006/main" id="8" idx="2"/>
            <a:endCxn xmlns:a="http://schemas.openxmlformats.org/drawingml/2006/main" id="10" idx="0"/>
          </p:cNvCxnSpPr>
          <p:nvPr/>
        </p:nvCxnSpPr>
        <p:spPr>
          <a:xfrm xmlns:a="http://schemas.openxmlformats.org/drawingml/2006/main">
            <a:off x="1971675" y="2590800"/>
            <a:ext cx="0" cy="2381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75CD3"/>
            </a:solidFill>
            <a:tailEnd type="triangle" w="sm" len="sm"/>
          </a:ln>
        </p:spPr>
      </p:cxnSp>
      <p:sp>
        <p:nvSpPr>
          <p:cNvPr id="15" name="express-output">
            <a:extLst xmlns:a="http://schemas.openxmlformats.org/drawingml/2006/main">
              <a:ext uri="{FF2B5EF4-FFF2-40B4-BE49-F238E27FC236}">
                <a16:creationId xmlns:a16="http://schemas.microsoft.com/office/drawing/2014/main" id="{4EF2DAE3-B329-4727-88DC-1EC523232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105275"/>
            <a:ext cx="22669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42D4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42D4E"/>
                </a:solidFill>
                <a:latin typeface="Arial"/>
                <a:ea typeface="Arial"/>
                <a:cs typeface="Arial"/>
              </a:rPr>
              <a:t>A2UI Express tokens</a:t>
            </a:r>
          </a:p>
        </p:txBody>
      </p:sp>
      <p:cxnSp>
        <p:nvCxnSpPr>
          <p:cNvPr id="68" name=""/>
          <p:cNvCxnSpPr>
            <a:stCxn xmlns:a="http://schemas.openxmlformats.org/drawingml/2006/main" id="10" idx="2"/>
            <a:endCxn xmlns:a="http://schemas.openxmlformats.org/drawingml/2006/main" id="15" idx="0"/>
          </p:cNvCxnSpPr>
          <p:nvPr/>
        </p:nvCxnSpPr>
        <p:spPr>
          <a:xfrm xmlns:a="http://schemas.openxmlformats.org/drawingml/2006/main">
            <a:off x="1971675" y="3895725"/>
            <a:ext cx="0" cy="2095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75CD3"/>
            </a:solidFill>
            <a:tailEnd type="triangle" w="sm" len="sm"/>
          </a:ln>
        </p:spPr>
      </p:cxnSp>
      <p:sp>
        <p:nvSpPr>
          <p:cNvPr id="17" name="training-heading">
            <a:extLst xmlns:a="http://schemas.openxmlformats.org/drawingml/2006/main">
              <a:ext uri="{FF2B5EF4-FFF2-40B4-BE49-F238E27FC236}">
                <a16:creationId xmlns:a16="http://schemas.microsoft.com/office/drawing/2014/main" id="{823E392B-2D87-4D70-AA48-794748EAE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1524000"/>
            <a:ext cx="3562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A74609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A74609"/>
                </a:solidFill>
                <a:latin typeface="Arial"/>
                <a:ea typeface="Arial"/>
                <a:cs typeface="Arial"/>
              </a:rPr>
              <a:t>02  QAT LoRA-64 TRAINING</a:t>
            </a:r>
          </a:p>
        </p:txBody>
      </p:sp>
      <p:sp>
        <p:nvSpPr>
          <p:cNvPr id="18" name="training-pairs">
            <a:extLst xmlns:a="http://schemas.openxmlformats.org/drawingml/2006/main">
              <a:ext uri="{FF2B5EF4-FFF2-40B4-BE49-F238E27FC236}">
                <a16:creationId xmlns:a16="http://schemas.microsoft.com/office/drawing/2014/main" id="{DD615D31-60E1-4F71-948A-9188F7072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1847850"/>
            <a:ext cx="35623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42D4E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42D4E"/>
                </a:solidFill>
                <a:latin typeface="Arial"/>
                <a:ea typeface="Arial"/>
                <a:cs typeface="Arial"/>
              </a:rPr>
              <a:t>Response → Express supervision</a:t>
            </a:r>
          </a:p>
        </p:txBody>
      </p:sp>
      <p:sp>
        <p:nvSpPr>
          <p:cNvPr id="19" name="qat-training">
            <a:extLst xmlns:a="http://schemas.openxmlformats.org/drawingml/2006/main">
              <a:ext uri="{FF2B5EF4-FFF2-40B4-BE49-F238E27FC236}">
                <a16:creationId xmlns:a16="http://schemas.microsoft.com/office/drawing/2014/main" id="{2B67DA09-79C8-4353-9FA9-E70C0701D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209800"/>
            <a:ext cx="3524250" cy="942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E6"/>
          </a:solidFill>
          <a:ln xmlns:a="http://schemas.openxmlformats.org/drawingml/2006/main" w="11430">
            <a:solidFill>
              <a:srgbClr val="EAC9A8"/>
            </a:solidFill>
          </a:ln>
        </p:spPr>
      </p:sp>
      <p:sp>
        <p:nvSpPr>
          <p:cNvPr id="20" name="lora-formula">
            <a:extLst xmlns:a="http://schemas.openxmlformats.org/drawingml/2006/main">
              <a:ext uri="{FF2B5EF4-FFF2-40B4-BE49-F238E27FC236}">
                <a16:creationId xmlns:a16="http://schemas.microsoft.com/office/drawing/2014/main" id="{447B7A8E-F0F6-4728-AB53-106ED685A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324100"/>
            <a:ext cx="32194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A74609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A74609"/>
                </a:solidFill>
                <a:latin typeface="Arial"/>
                <a:ea typeface="Arial"/>
                <a:cs typeface="Arial"/>
              </a:rPr>
              <a:t>W′ = W + (α/r) BA</a:t>
            </a:r>
          </a:p>
        </p:txBody>
      </p:sp>
      <p:sp>
        <p:nvSpPr>
          <p:cNvPr id="21" name="lora-hparams">
            <a:extLst xmlns:a="http://schemas.openxmlformats.org/drawingml/2006/main">
              <a:ext uri="{FF2B5EF4-FFF2-40B4-BE49-F238E27FC236}">
                <a16:creationId xmlns:a16="http://schemas.microsoft.com/office/drawing/2014/main" id="{A9ED9BCB-1B57-4756-BD48-F502D23E4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724150"/>
            <a:ext cx="32575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A7460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A74609"/>
                </a:solidFill>
                <a:latin typeface="Arial"/>
                <a:ea typeface="Arial"/>
                <a:cs typeface="Arial"/>
              </a:rPr>
              <a:t>Rank 64 • alpha 64 • 96.6M trainable</a:t>
            </a:r>
          </a:p>
        </p:txBody>
      </p:sp>
      <p:sp>
        <p:nvSpPr>
          <p:cNvPr id="22" name="qat-forward">
            <a:extLst xmlns:a="http://schemas.openxmlformats.org/drawingml/2006/main">
              <a:ext uri="{FF2B5EF4-FFF2-40B4-BE49-F238E27FC236}">
                <a16:creationId xmlns:a16="http://schemas.microsoft.com/office/drawing/2014/main" id="{7965C95C-C2C7-4506-A246-0D0A12298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3324225"/>
            <a:ext cx="35623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88" b="1">
                <a:solidFill>
                  <a:srgbClr val="142D4E"/>
                </a:solidFill>
                <a:latin typeface="Arial"/>
                <a:ea typeface="Arial"/>
                <a:cs typeface="Arial"/>
              </a:defRPr>
            </a:pPr>
            <a:r>
              <a:rPr sz="1388" b="1">
                <a:solidFill>
                  <a:srgbClr val="142D4E"/>
                </a:solidFill>
                <a:latin typeface="Arial"/>
                <a:ea typeface="Arial"/>
                <a:cs typeface="Arial"/>
              </a:rPr>
              <a:t>W2/W4 weight + A8 activation fake quant</a:t>
            </a:r>
          </a:p>
        </p:txBody>
      </p:sp>
      <p:sp>
        <p:nvSpPr>
          <p:cNvPr id="23" name="qat-freeze">
            <a:extLst xmlns:a="http://schemas.openxmlformats.org/drawingml/2006/main">
              <a:ext uri="{FF2B5EF4-FFF2-40B4-BE49-F238E27FC236}">
                <a16:creationId xmlns:a16="http://schemas.microsoft.com/office/drawing/2014/main" id="{355126A8-CBD3-4832-86E5-D0790440C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3619500"/>
            <a:ext cx="3562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0617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06178"/>
                </a:solidFill>
                <a:latin typeface="Arial"/>
                <a:ea typeface="Arial"/>
                <a:cs typeface="Arial"/>
              </a:rPr>
              <a:t>Fixed scales; frozen base; update A/B only</a:t>
            </a:r>
          </a:p>
        </p:txBody>
      </p:sp>
      <p:sp>
        <p:nvSpPr>
          <p:cNvPr id="24" name="qat-targets">
            <a:extLst xmlns:a="http://schemas.openxmlformats.org/drawingml/2006/main">
              <a:ext uri="{FF2B5EF4-FFF2-40B4-BE49-F238E27FC236}">
                <a16:creationId xmlns:a16="http://schemas.microsoft.com/office/drawing/2014/main" id="{FAD2069F-52E3-45CF-B811-D82D48F96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3990975"/>
            <a:ext cx="3562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42D4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42D4E"/>
                </a:solidFill>
                <a:latin typeface="Arial"/>
                <a:ea typeface="Arial"/>
                <a:cs typeface="Arial"/>
              </a:rPr>
              <a:t>205 attention / MLP projections</a:t>
            </a:r>
          </a:p>
        </p:txBody>
      </p:sp>
      <p:sp>
        <p:nvSpPr>
          <p:cNvPr id="25" name="qat-selection">
            <a:extLst xmlns:a="http://schemas.openxmlformats.org/drawingml/2006/main">
              <a:ext uri="{FF2B5EF4-FFF2-40B4-BE49-F238E27FC236}">
                <a16:creationId xmlns:a16="http://schemas.microsoft.com/office/drawing/2014/main" id="{4B994F60-835A-4058-8714-410A74823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4257675"/>
            <a:ext cx="3562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13" b="0">
                <a:solidFill>
                  <a:srgbClr val="506178"/>
                </a:solidFill>
                <a:latin typeface="Arial"/>
                <a:ea typeface="Arial"/>
                <a:cs typeface="Arial"/>
              </a:defRPr>
            </a:pPr>
            <a:r>
              <a:rPr sz="1313" b="0">
                <a:solidFill>
                  <a:srgbClr val="506178"/>
                </a:solidFill>
                <a:latin typeface="Arial"/>
                <a:ea typeface="Arial"/>
                <a:cs typeface="Arial"/>
              </a:rPr>
              <a:t>Best checkpoint: step 9,000</a:t>
            </a:r>
          </a:p>
        </p:txBody>
      </p:sp>
      <p:sp>
        <p:nvSpPr>
          <p:cNvPr id="26" name="export-heading">
            <a:extLst xmlns:a="http://schemas.openxmlformats.org/drawingml/2006/main">
              <a:ext uri="{FF2B5EF4-FFF2-40B4-BE49-F238E27FC236}">
                <a16:creationId xmlns:a16="http://schemas.microsoft.com/office/drawing/2014/main" id="{D80DF1A5-AC61-4AFF-96E7-44396648E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524000"/>
            <a:ext cx="3448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5CD3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75CD3"/>
                </a:solidFill>
                <a:latin typeface="Arial"/>
                <a:ea typeface="Arial"/>
                <a:cs typeface="Arial"/>
              </a:rPr>
              <a:t>03  RETAINED-SCALE EXPORT</a:t>
            </a:r>
          </a:p>
        </p:txBody>
      </p:sp>
      <p:sp>
        <p:nvSpPr>
          <p:cNvPr id="27" name="export-stage-1">
            <a:extLst xmlns:a="http://schemas.openxmlformats.org/drawingml/2006/main">
              <a:ext uri="{FF2B5EF4-FFF2-40B4-BE49-F238E27FC236}">
                <a16:creationId xmlns:a16="http://schemas.microsoft.com/office/drawing/2014/main" id="{5BF8E5D2-2ECC-467C-A36D-7AEE62655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905000"/>
            <a:ext cx="3448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42D4E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42D4E"/>
                </a:solidFill>
                <a:latin typeface="Arial"/>
                <a:ea typeface="Arial"/>
                <a:cs typeface="Arial"/>
              </a:rPr>
              <a:t>1  Rebuild QAT effective weights</a:t>
            </a:r>
          </a:p>
        </p:txBody>
      </p:sp>
      <p:sp>
        <p:nvSpPr>
          <p:cNvPr id="28" name="export-stage-1-detail">
            <a:extLst xmlns:a="http://schemas.openxmlformats.org/drawingml/2006/main">
              <a:ext uri="{FF2B5EF4-FFF2-40B4-BE49-F238E27FC236}">
                <a16:creationId xmlns:a16="http://schemas.microsoft.com/office/drawing/2014/main" id="{1B26221A-0699-4DC3-B01B-2384DC47A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209800"/>
            <a:ext cx="32194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13" b="0">
                <a:solidFill>
                  <a:srgbClr val="506178"/>
                </a:solidFill>
                <a:latin typeface="Arial"/>
                <a:ea typeface="Arial"/>
                <a:cs typeface="Arial"/>
              </a:defRPr>
            </a:pPr>
            <a:r>
              <a:rPr sz="1313" b="0">
                <a:solidFill>
                  <a:srgbClr val="506178"/>
                </a:solidFill>
                <a:latin typeface="Arial"/>
                <a:ea typeface="Arial"/>
                <a:cs typeface="Arial"/>
              </a:rPr>
              <a:t>CPU FP32 LoRA matmul; BF16 delta before add</a:t>
            </a:r>
          </a:p>
        </p:txBody>
      </p:sp>
      <p:sp>
        <p:nvSpPr>
          <p:cNvPr id="29" name="export-stage-2">
            <a:extLst xmlns:a="http://schemas.openxmlformats.org/drawingml/2006/main">
              <a:ext uri="{FF2B5EF4-FFF2-40B4-BE49-F238E27FC236}">
                <a16:creationId xmlns:a16="http://schemas.microsoft.com/office/drawing/2014/main" id="{04AA1206-61B9-40C3-949B-D0E6409D0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724150"/>
            <a:ext cx="3448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42D4E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42D4E"/>
                </a:solidFill>
                <a:latin typeface="Arial"/>
                <a:ea typeface="Arial"/>
                <a:cs typeface="Arial"/>
              </a:rPr>
              <a:t>2  Patch 205 W2/W4 weight buffers</a:t>
            </a:r>
          </a:p>
        </p:txBody>
      </p:sp>
      <p:sp>
        <p:nvSpPr>
          <p:cNvPr id="30" name="export-stage-2-detail">
            <a:extLst xmlns:a="http://schemas.openxmlformats.org/drawingml/2006/main">
              <a:ext uri="{FF2B5EF4-FFF2-40B4-BE49-F238E27FC236}">
                <a16:creationId xmlns:a16="http://schemas.microsoft.com/office/drawing/2014/main" id="{9A77F4F7-3934-4570-9832-CA6899049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028950"/>
            <a:ext cx="32194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13" b="0">
                <a:solidFill>
                  <a:srgbClr val="506178"/>
                </a:solidFill>
                <a:latin typeface="Arial"/>
                <a:ea typeface="Arial"/>
                <a:cs typeface="Arial"/>
              </a:defRPr>
            </a:pPr>
            <a:r>
              <a:rPr sz="1313" b="0">
                <a:solidFill>
                  <a:srgbClr val="506178"/>
                </a:solidFill>
                <a:latin typeface="Arial"/>
                <a:ea typeface="Arial"/>
                <a:cs typeface="Arial"/>
              </a:rPr>
              <a:t>Retain scales, graph, tokenizer and W8 paths</a:t>
            </a:r>
          </a:p>
        </p:txBody>
      </p:sp>
      <p:sp>
        <p:nvSpPr>
          <p:cNvPr id="31" name="export-package">
            <a:extLst xmlns:a="http://schemas.openxmlformats.org/drawingml/2006/main">
              <a:ext uri="{FF2B5EF4-FFF2-40B4-BE49-F238E27FC236}">
                <a16:creationId xmlns:a16="http://schemas.microsoft.com/office/drawing/2014/main" id="{61085864-47BC-4F61-B069-22DF5A115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619500"/>
            <a:ext cx="34480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6FE"/>
          </a:solidFill>
          <a:ln xmlns:a="http://schemas.openxmlformats.org/drawingml/2006/main" w="11430">
            <a:solidFill>
              <a:srgbClr val="C9D7EA"/>
            </a:solidFill>
          </a:ln>
        </p:spPr>
      </p:sp>
      <p:sp>
        <p:nvSpPr>
          <p:cNvPr id="32" name="export-file">
            <a:extLst xmlns:a="http://schemas.openxmlformats.org/drawingml/2006/main">
              <a:ext uri="{FF2B5EF4-FFF2-40B4-BE49-F238E27FC236}">
                <a16:creationId xmlns:a16="http://schemas.microsoft.com/office/drawing/2014/main" id="{BE048B7B-3DFD-4A56-826F-2CEA9F490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733800"/>
            <a:ext cx="32194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13" b="1">
                <a:solidFill>
                  <a:srgbClr val="175CD3"/>
                </a:solidFill>
                <a:latin typeface="Arial"/>
                <a:ea typeface="Arial"/>
                <a:cs typeface="Arial"/>
              </a:defRPr>
            </a:pPr>
            <a:r>
              <a:rPr sz="1313" b="1">
                <a:solidFill>
                  <a:srgbClr val="175CD3"/>
                </a:solidFill>
                <a:latin typeface="Arial"/>
                <a:ea typeface="Arial"/>
                <a:cs typeface="Arial"/>
              </a:rPr>
              <a:t>Target + original MTP drafter → .litertlm</a:t>
            </a:r>
          </a:p>
        </p:txBody>
      </p:sp>
      <p:sp>
        <p:nvSpPr>
          <p:cNvPr id="33" name="runtime-precision">
            <a:extLst xmlns:a="http://schemas.openxmlformats.org/drawingml/2006/main">
              <a:ext uri="{FF2B5EF4-FFF2-40B4-BE49-F238E27FC236}">
                <a16:creationId xmlns:a16="http://schemas.microsoft.com/office/drawing/2014/main" id="{4BB4C098-7700-4B02-ABFA-321344624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162425"/>
            <a:ext cx="34480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13" b="0">
                <a:solidFill>
                  <a:srgbClr val="506178"/>
                </a:solidFill>
                <a:latin typeface="Arial"/>
                <a:ea typeface="Arial"/>
                <a:cs typeface="Arial"/>
              </a:defRPr>
            </a:pPr>
            <a:r>
              <a:rPr sz="1313" b="0">
                <a:solidFill>
                  <a:srgbClr val="506178"/>
                </a:solidFill>
                <a:latin typeface="Arial"/>
                <a:ea typeface="Arial"/>
                <a:cs typeface="Arial"/>
              </a:rPr>
              <a:t>SDK: GPU FP32 activations; weights stay quantized</a:t>
            </a:r>
          </a:p>
        </p:txBody>
      </p:sp>
      <p:sp>
        <p:nvSpPr>
          <p:cNvPr id="34" name="mtp-divider">
            <a:extLst xmlns:a="http://schemas.openxmlformats.org/drawingml/2006/main">
              <a:ext uri="{FF2B5EF4-FFF2-40B4-BE49-F238E27FC236}">
                <a16:creationId xmlns:a16="http://schemas.microsoft.com/office/drawing/2014/main" id="{3648C7C9-238F-46C8-832D-745E0DBA8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695825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4EC"/>
            </a:solidFill>
          </a:ln>
        </p:spPr>
      </p:sp>
      <p:sp>
        <p:nvSpPr>
          <p:cNvPr id="35" name="mtp-heading">
            <a:extLst xmlns:a="http://schemas.openxmlformats.org/drawingml/2006/main">
              <a:ext uri="{FF2B5EF4-FFF2-40B4-BE49-F238E27FC236}">
                <a16:creationId xmlns:a16="http://schemas.microsoft.com/office/drawing/2014/main" id="{5C070758-4572-4FF4-A8E8-731487381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924425"/>
            <a:ext cx="28098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7568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17568"/>
                </a:solidFill>
                <a:latin typeface="Arial"/>
                <a:ea typeface="Arial"/>
                <a:cs typeface="Arial"/>
              </a:rPr>
              <a:t>MTP AT INFERENCE</a:t>
            </a:r>
          </a:p>
        </p:txBody>
      </p:sp>
      <p:sp>
        <p:nvSpPr>
          <p:cNvPr id="36" name="mtp-preserved">
            <a:extLst xmlns:a="http://schemas.openxmlformats.org/drawingml/2006/main">
              <a:ext uri="{FF2B5EF4-FFF2-40B4-BE49-F238E27FC236}">
                <a16:creationId xmlns:a16="http://schemas.microsoft.com/office/drawing/2014/main" id="{17CE04E4-0C32-4823-B426-7998EA788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334000"/>
            <a:ext cx="2733675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42D4E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42D4E"/>
                </a:solidFill>
                <a:latin typeface="Arial"/>
                <a:ea typeface="Arial"/>
                <a:cs typeface="Arial"/>
              </a:rPr>
              <a:t>Official drafter preserved,</a:t>
            </a:r>
          </a:p>
          <a:p xmlns:a="http://schemas.openxmlformats.org/drawingml/2006/main">
            <a:pPr algn="l">
              <a:defRPr sz="1500" b="0">
                <a:solidFill>
                  <a:srgbClr val="142D4E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42D4E"/>
                </a:solidFill>
                <a:latin typeface="Arial"/>
                <a:ea typeface="Arial"/>
                <a:cs typeface="Arial"/>
              </a:rPr>
              <a:t>not fine-tuned with LoRA.</a:t>
            </a:r>
          </a:p>
        </p:txBody>
      </p:sp>
      <p:sp>
        <p:nvSpPr>
          <p:cNvPr id="37" name="mtp-toggle">
            <a:extLst xmlns:a="http://schemas.openxmlformats.org/drawingml/2006/main">
              <a:ext uri="{FF2B5EF4-FFF2-40B4-BE49-F238E27FC236}">
                <a16:creationId xmlns:a16="http://schemas.microsoft.com/office/drawing/2014/main" id="{10D81DE7-2C2E-4588-9F77-4464D5538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81700"/>
            <a:ext cx="27336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0617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06178"/>
                </a:solidFill>
                <a:latin typeface="Arial"/>
                <a:ea typeface="Arial"/>
                <a:cs typeface="Arial"/>
              </a:rPr>
              <a:t>Runtime toggle: on / off</a:t>
            </a:r>
          </a:p>
        </p:txBody>
      </p:sp>
      <p:sp>
        <p:nvSpPr>
          <p:cNvPr id="38" name="mtp-context">
            <a:extLst xmlns:a="http://schemas.openxmlformats.org/drawingml/2006/main">
              <a:ext uri="{FF2B5EF4-FFF2-40B4-BE49-F238E27FC236}">
                <a16:creationId xmlns:a16="http://schemas.microsoft.com/office/drawing/2014/main" id="{58020336-6CAF-4FF4-B47E-BA1A66323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4914900"/>
            <a:ext cx="83343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0617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06178"/>
                </a:solidFill>
                <a:latin typeface="Arial"/>
                <a:ea typeface="Arial"/>
                <a:cs typeface="Arial"/>
              </a:rPr>
              <a:t>Shares target token embeddings, last hidden state and KV cache</a:t>
            </a:r>
          </a:p>
        </p:txBody>
      </p:sp>
      <p:sp>
        <p:nvSpPr>
          <p:cNvPr id="39" name="mtp-drafter">
            <a:extLst xmlns:a="http://schemas.openxmlformats.org/drawingml/2006/main">
              <a:ext uri="{FF2B5EF4-FFF2-40B4-BE49-F238E27FC236}">
                <a16:creationId xmlns:a16="http://schemas.microsoft.com/office/drawing/2014/main" id="{2AD03057-38E6-4354-80D0-D6F38AE87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5314950"/>
            <a:ext cx="2238375" cy="657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7F4"/>
          </a:solidFill>
          <a:ln xmlns:a="http://schemas.openxmlformats.org/drawingml/2006/main" w="11430">
            <a:solidFill>
              <a:srgbClr val="B7D8D1"/>
            </a:solidFill>
          </a:ln>
        </p:spPr>
      </p:sp>
      <p:sp>
        <p:nvSpPr>
          <p:cNvPr id="40" name="mtp-drafter-title">
            <a:extLst xmlns:a="http://schemas.openxmlformats.org/drawingml/2006/main">
              <a:ext uri="{FF2B5EF4-FFF2-40B4-BE49-F238E27FC236}">
                <a16:creationId xmlns:a16="http://schemas.microsoft.com/office/drawing/2014/main" id="{F3F933C5-FD1A-43D9-ABFA-86391C529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5410200"/>
            <a:ext cx="19335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756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7568"/>
                </a:solidFill>
                <a:latin typeface="Arial"/>
                <a:ea typeface="Arial"/>
                <a:cs typeface="Arial"/>
              </a:rPr>
              <a:t>DRAFT</a:t>
            </a:r>
          </a:p>
        </p:txBody>
      </p:sp>
      <p:sp>
        <p:nvSpPr>
          <p:cNvPr id="41" name="mtp-drafter-details">
            <a:extLst xmlns:a="http://schemas.openxmlformats.org/drawingml/2006/main">
              <a:ext uri="{FF2B5EF4-FFF2-40B4-BE49-F238E27FC236}">
                <a16:creationId xmlns:a16="http://schemas.microsoft.com/office/drawing/2014/main" id="{211B466F-73E5-46C1-8272-7785D0406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5676900"/>
            <a:ext cx="19335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38" b="0">
                <a:solidFill>
                  <a:srgbClr val="142D4E"/>
                </a:solidFill>
                <a:latin typeface="Arial"/>
                <a:ea typeface="Arial"/>
                <a:cs typeface="Arial"/>
              </a:defRPr>
            </a:pPr>
            <a:r>
              <a:rPr sz="1238" b="0">
                <a:solidFill>
                  <a:srgbClr val="142D4E"/>
                </a:solidFill>
                <a:latin typeface="Arial"/>
                <a:ea typeface="Arial"/>
                <a:cs typeface="Arial"/>
              </a:rPr>
              <a:t>~76M • 4 layers • width 256</a:t>
            </a:r>
          </a:p>
        </p:txBody>
      </p:sp>
      <p:sp>
        <p:nvSpPr>
          <p:cNvPr id="42" name="mtp-verifier">
            <a:extLst xmlns:a="http://schemas.openxmlformats.org/drawingml/2006/main">
              <a:ext uri="{FF2B5EF4-FFF2-40B4-BE49-F238E27FC236}">
                <a16:creationId xmlns:a16="http://schemas.microsoft.com/office/drawing/2014/main" id="{63957AF4-19C1-4A77-878B-5581F8D12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5314950"/>
            <a:ext cx="2333625" cy="657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6FE"/>
          </a:solidFill>
          <a:ln xmlns:a="http://schemas.openxmlformats.org/drawingml/2006/main" w="11430">
            <a:solidFill>
              <a:srgbClr val="C9D7EA"/>
            </a:solidFill>
          </a:ln>
        </p:spPr>
      </p:sp>
      <p:sp>
        <p:nvSpPr>
          <p:cNvPr id="43" name="mtp-verifier-title">
            <a:extLst xmlns:a="http://schemas.openxmlformats.org/drawingml/2006/main">
              <a:ext uri="{FF2B5EF4-FFF2-40B4-BE49-F238E27FC236}">
                <a16:creationId xmlns:a16="http://schemas.microsoft.com/office/drawing/2014/main" id="{7B8732D9-8F49-4720-BC06-1FAF6C74B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410200"/>
            <a:ext cx="20288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5CD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75CD3"/>
                </a:solidFill>
                <a:latin typeface="Arial"/>
                <a:ea typeface="Arial"/>
                <a:cs typeface="Arial"/>
              </a:rPr>
              <a:t>VERIFY</a:t>
            </a:r>
          </a:p>
        </p:txBody>
      </p:sp>
      <p:sp>
        <p:nvSpPr>
          <p:cNvPr id="44" name="mtp-verifier-details">
            <a:extLst xmlns:a="http://schemas.openxmlformats.org/drawingml/2006/main">
              <a:ext uri="{FF2B5EF4-FFF2-40B4-BE49-F238E27FC236}">
                <a16:creationId xmlns:a16="http://schemas.microsoft.com/office/drawing/2014/main" id="{FE3B317F-54E4-4019-9FAC-14A6FA86F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676900"/>
            <a:ext cx="20288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42D4E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42D4E"/>
                </a:solidFill>
                <a:latin typeface="Arial"/>
                <a:ea typeface="Arial"/>
                <a:cs typeface="Arial"/>
              </a:rPr>
              <a:t>One parallel target pass</a:t>
            </a:r>
          </a:p>
        </p:txBody>
      </p:sp>
      <p:sp>
        <p:nvSpPr>
          <p:cNvPr id="45" name="mtp-accepted">
            <a:extLst xmlns:a="http://schemas.openxmlformats.org/drawingml/2006/main">
              <a:ext uri="{FF2B5EF4-FFF2-40B4-BE49-F238E27FC236}">
                <a16:creationId xmlns:a16="http://schemas.microsoft.com/office/drawing/2014/main" id="{08A9DCC7-A690-44CD-AE2B-DB4E56859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3025" y="5314950"/>
            <a:ext cx="2771775" cy="657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7F4"/>
          </a:solidFill>
          <a:ln xmlns:a="http://schemas.openxmlformats.org/drawingml/2006/main" w="11430">
            <a:solidFill>
              <a:srgbClr val="B7D8D1"/>
            </a:solidFill>
          </a:ln>
        </p:spPr>
      </p:sp>
      <p:sp>
        <p:nvSpPr>
          <p:cNvPr id="46" name="mtp-accepted-title">
            <a:extLst xmlns:a="http://schemas.openxmlformats.org/drawingml/2006/main">
              <a:ext uri="{FF2B5EF4-FFF2-40B4-BE49-F238E27FC236}">
                <a16:creationId xmlns:a16="http://schemas.microsoft.com/office/drawing/2014/main" id="{9497DB07-E779-4993-8C9D-98FF2CA19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5425" y="5410200"/>
            <a:ext cx="24669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756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7568"/>
                </a:solidFill>
                <a:latin typeface="Arial"/>
                <a:ea typeface="Arial"/>
                <a:cs typeface="Arial"/>
              </a:rPr>
              <a:t>ACCEPT / CORRECT</a:t>
            </a:r>
          </a:p>
        </p:txBody>
      </p:sp>
      <p:sp>
        <p:nvSpPr>
          <p:cNvPr id="47" name="mtp-accepted-details">
            <a:extLst xmlns:a="http://schemas.openxmlformats.org/drawingml/2006/main">
              <a:ext uri="{FF2B5EF4-FFF2-40B4-BE49-F238E27FC236}">
                <a16:creationId xmlns:a16="http://schemas.microsoft.com/office/drawing/2014/main" id="{0CE39C2A-F6B3-466C-8EBD-B3C579B39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5425" y="5676900"/>
            <a:ext cx="24669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42D4E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42D4E"/>
                </a:solidFill>
                <a:latin typeface="Arial"/>
                <a:ea typeface="Arial"/>
                <a:cs typeface="Arial"/>
              </a:rPr>
              <a:t>Keep valid prefix; correct rejection</a:t>
            </a:r>
          </a:p>
        </p:txBody>
      </p:sp>
      <p:cxnSp>
        <p:nvCxnSpPr>
          <p:cNvPr id="100" name=""/>
          <p:cNvCxnSpPr>
            <a:stCxn xmlns:a="http://schemas.openxmlformats.org/drawingml/2006/main" id="39" idx="3"/>
            <a:endCxn xmlns:a="http://schemas.openxmlformats.org/drawingml/2006/main" id="42" idx="1"/>
          </p:cNvCxnSpPr>
          <p:nvPr/>
        </p:nvCxnSpPr>
        <p:spPr>
          <a:xfrm xmlns:a="http://schemas.openxmlformats.org/drawingml/2006/main">
            <a:off x="5638800" y="5643563"/>
            <a:ext cx="4953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17568"/>
            </a:solidFill>
            <a:tailEnd type="triangle" w="sm" len="sm"/>
          </a:ln>
        </p:spPr>
      </p:cxnSp>
      <p:cxnSp>
        <p:nvCxnSpPr>
          <p:cNvPr id="101" name=""/>
          <p:cNvCxnSpPr>
            <a:stCxn xmlns:a="http://schemas.openxmlformats.org/drawingml/2006/main" id="42" idx="3"/>
            <a:endCxn xmlns:a="http://schemas.openxmlformats.org/drawingml/2006/main" id="45" idx="1"/>
          </p:cNvCxnSpPr>
          <p:nvPr/>
        </p:nvCxnSpPr>
        <p:spPr>
          <a:xfrm xmlns:a="http://schemas.openxmlformats.org/drawingml/2006/main">
            <a:off x="8467725" y="5643563"/>
            <a:ext cx="4953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17568"/>
            </a:solidFill>
            <a:tailEnd type="triangle" w="sm" len="sm"/>
          </a:ln>
        </p:spPr>
      </p:cxnSp>
      <p:sp>
        <p:nvSpPr>
          <p:cNvPr id="50" name="mtp-speed-note">
            <a:extLst xmlns:a="http://schemas.openxmlformats.org/drawingml/2006/main">
              <a:ext uri="{FF2B5EF4-FFF2-40B4-BE49-F238E27FC236}">
                <a16:creationId xmlns:a16="http://schemas.microsoft.com/office/drawing/2014/main" id="{829A7291-53DA-4797-9A05-33420AAE5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6105525"/>
            <a:ext cx="8334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13" b="0">
                <a:solidFill>
                  <a:srgbClr val="506178"/>
                </a:solidFill>
                <a:latin typeface="Arial"/>
                <a:ea typeface="Arial"/>
                <a:cs typeface="Arial"/>
              </a:defRPr>
            </a:pPr>
            <a:r>
              <a:rPr sz="1313" b="0">
                <a:solidFill>
                  <a:srgbClr val="506178"/>
                </a:solidFill>
                <a:latin typeface="Arial"/>
                <a:ea typeface="Arial"/>
                <a:cs typeface="Arial"/>
              </a:rPr>
              <a:t>Sequential draft tokens • one target verification pass • speedup depends on acceptance</a:t>
            </a:r>
          </a:p>
        </p:txBody>
      </p:sp>
      <p:sp>
        <p:nvSpPr>
          <p:cNvPr id="51" name="footer-rule">
            <a:extLst xmlns:a="http://schemas.openxmlformats.org/drawingml/2006/main">
              <a:ext uri="{FF2B5EF4-FFF2-40B4-BE49-F238E27FC236}">
                <a16:creationId xmlns:a16="http://schemas.microsoft.com/office/drawing/2014/main" id="{91E7CBF8-C26D-42D0-8F4A-E6BC58384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4EC"/>
            </a:solidFill>
          </a:ln>
        </p:spPr>
      </p:sp>
      <p:sp>
        <p:nvSpPr>
          <p:cNvPr id="52" name="verification-boundary">
            <a:extLst xmlns:a="http://schemas.openxmlformats.org/drawingml/2006/main">
              <a:ext uri="{FF2B5EF4-FFF2-40B4-BE49-F238E27FC236}">
                <a16:creationId xmlns:a16="http://schemas.microsoft.com/office/drawing/2014/main" id="{18C2942F-CCB1-4B30-AD0C-DCCFFC6AA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62725"/>
            <a:ext cx="11277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506178"/>
                </a:solidFill>
                <a:latin typeface="Arial"/>
                <a:ea typeface="Arial"/>
                <a:cs typeface="Arial"/>
              </a:defRPr>
            </a:pPr>
            <a:r>
              <a:rPr sz="1088" b="0">
                <a:solidFill>
                  <a:srgbClr val="506178"/>
                </a:solidFill>
                <a:latin typeface="Arial"/>
                <a:ea typeface="Arial"/>
                <a:cs typeface="Arial"/>
              </a:rPr>
              <a:t>Export code parity: 205/205 matrices verified. Native checkpoint-to-device parity is not yet certified.</a:t>
            </a:r>
          </a:p>
        </p:txBody>
      </p:sp>
    </p:spTree>
    <p:extLst>
      <p:ext uri="{BB962C8B-B14F-4D97-AF65-F5344CB8AC3E}">
        <p14:creationId xmlns:p14="http://schemas.microsoft.com/office/powerpoint/2010/main" val="1368270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2026-09-29T14:47:08.9660000Z</dcterms:created>
  <dcterms:modified xsi:type="dcterms:W3CDTF">2026-09-29T14:47:08.9660000Z</dcterms:modified>
</coreProperties>
</file>