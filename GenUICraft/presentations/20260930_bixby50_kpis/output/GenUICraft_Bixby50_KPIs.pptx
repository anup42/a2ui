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0ba32e85a646b5" /><Relationship Type="http://schemas.openxmlformats.org/officeDocument/2006/relationships/extended-properties" Target="/docProps/app.xml" Id="R468cede0928545bd" /><Relationship Type="http://schemas.openxmlformats.org/officeDocument/2006/relationships/officeDocument" Target="/ppt/presentation.xml" Id="Ra09bc1079c134d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37697acf944b01"/>
  </p:sldMasterIdLst>
  <p:notesMasterIdLst>
    <p:notesMasterId xmlns:r="http://schemas.openxmlformats.org/officeDocument/2006/relationships" r:id="Rd0fedcd4542c4c2a"/>
  </p:notesMasterIdLst>
  <p:sldIdLst>
    <p:sldId xmlns:r="http://schemas.openxmlformats.org/officeDocument/2006/relationships" id="256" r:id="R74256740d1414246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f15de93fcc4ec9" /><Relationship Type="http://schemas.openxmlformats.org/officeDocument/2006/relationships/slideMaster" Target="/ppt/slideMasters/slideMaster1.xml" Id="R8d37697acf944b01" /><Relationship Type="http://schemas.openxmlformats.org/officeDocument/2006/relationships/notesMaster" Target="/ppt/notesMasters/notesMaster1.xml" Id="Rd0fedcd4542c4c2a" /><Relationship Type="http://schemas.openxmlformats.org/officeDocument/2006/relationships/presProps" Target="/ppt/presProps.xml" Id="Rfa1d11c1988345d9" /><Relationship Type="http://schemas.openxmlformats.org/officeDocument/2006/relationships/tableStyles" Target="/ppt/tableStyles.xml" Id="R93cdd3cdfe7e4cdd" /><Relationship Type="http://schemas.openxmlformats.org/officeDocument/2006/relationships/slide" Target="/ppt/slides/slide1.xml" Id="R74256740d14142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e49df2150544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7917ab723544dd" /><Relationship Type="http://schemas.openxmlformats.org/officeDocument/2006/relationships/notesMaster" Target="/ppt/notesMasters/notesMaster1.xml" Id="Rbe18eb93f55244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user-approved KPI values in this conversation, 29–30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Calculation source: C:/Users/anupk/Documents/git/A2UI/GenUICraft/validation/20260929_bixby50_full_gpu_fp32/prefill_2p1s_latency_estimate/summary.json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Detailed report: C:/Users/anupk/Documents/git/A2UI/GenUICraft/validation/20260929_bixby50_full_gpu_fp32/prefill_2p1s_latency_estimate/REPORT.md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FP32 checkpoint reference85.90 is user supplied. LiteRT scores83.26 and80.89 are full50 means after published SDK0.5.6 generated-output repair, including unrecoverable attempts as zero. V5.4 measures source-to-UI representation quality rather than source factuality or a visual acceptance percentage.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Decode35/52 tokens per second and prefill2.1seconds are supplied assumptions. Mean native output tokens across50attempts are615.42 without MTP and568.70 with MTP. Native input tokens average3468.62 including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Off estimate:615.42/35 +2.1 +0.16089401368 =19.8443225851seconds. On estimate:568.70/52 +2.1 +0.15302515518 =13.1895636167seconds.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Other overhead includes provider dispatch, converter prompt/compile/repair/attribution, and benchmark recording I/O from mixed-device saved runs. These are modelled warm conversion durations, not freshly measured end-to-end screen latency. Excludes initialization, Perplexity generation, rendering and screenshot/test waits.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52/35=1.485714, displayed as1.49x.83.26−80.89=2.37score points. Different output lengths also affect total latency, so do not attribute the entire latency gap solely to speculative decoding.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The50-case averages include6repetition stops off and7on. Excluding those gives estimated warm durations21.58seconds off and14.55seconds on. The complete evaluation reused27verified earlier generations and collected73new outputs on Flip8 and Fold7.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e65dfa373245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890a081dbc471c" /><Relationship Type="http://schemas.openxmlformats.org/officeDocument/2006/relationships/slideLayout" Target="/ppt/slideLayouts/slideLayout1.xml" Id="R4f6d4db941ad41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6d4db941ad41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7f7bcc8fd4156" /><Relationship Type="http://schemas.openxmlformats.org/officeDocument/2006/relationships/chart" Target="/ppt/slides/charts/chart1.xml" Id="R0655c2c3a5984be4" /><Relationship Type="http://schemas.openxmlformats.org/officeDocument/2006/relationships/notesSlide" Target="/ppt/notesSlides/notesSlide1.xml" Id="Rdf1725d1bc0146d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v5.4 quality score</c:v>
          </c:tx>
          <c:spPr>
            <a:solidFill xmlns:a="http://schemas.openxmlformats.org/drawingml/2006/main">
              <a:srgbClr val="235BD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8E9BA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35BDC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07F83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550" b="1">
                        <a:solidFill>
                          <a:srgbClr val="15243B"/>
                        </a:solidFill>
                        <a:latin typeface="Arial"/>
                        <a:ea typeface="Arial"/>
                        <a:cs typeface="Arial"/>
                      </a:rPr>
                      <a:t>85.90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550" b="1">
                      <a:solidFill>
                        <a:srgbClr val="15243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550" b="1">
                        <a:solidFill>
                          <a:srgbClr val="15243B"/>
                        </a:solidFill>
                        <a:latin typeface="Arial"/>
                        <a:ea typeface="Arial"/>
                        <a:cs typeface="Arial"/>
                      </a:rPr>
                      <a:t>83.26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550" b="1">
                      <a:solidFill>
                        <a:srgbClr val="15243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550" b="1">
                        <a:solidFill>
                          <a:srgbClr val="15243B"/>
                        </a:solidFill>
                        <a:latin typeface="Arial"/>
                        <a:ea typeface="Arial"/>
                        <a:cs typeface="Arial"/>
                      </a:rPr>
                      <a:t>80.89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550" b="1">
                      <a:solidFill>
                        <a:srgbClr val="15243B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Data'!$A$2:$A$4</c:f>
              <c:strCache>
                <c:ptCount val="3"/>
                <c:pt idx="0">
                  <c:v>FP32 checkpoint</c:v>
                </c:pt>
                <c:pt idx="1">
                  <c:v>MTP off</c:v>
                </c:pt>
                <c:pt idx="2">
                  <c:v>MTP on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85.9</c:v>
                </c:pt>
                <c:pt idx="1">
                  <c:v>83.26</c:v>
                </c:pt>
                <c:pt idx="2">
                  <c:v>80.89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550" b="1">
                  <a:solidFill>
                    <a:srgbClr val="15243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3E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5243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DF2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0708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E6FF3871-08FB-426D-9AD2-FB810846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5243B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243B"/>
                </a:solidFill>
                <a:latin typeface="Arial"/>
                <a:ea typeface="Arial"/>
                <a:cs typeface="Arial"/>
              </a:rPr>
              <a:t>Gemma 4 E2B on Bixby50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F1403AA-1C78-4D8E-B3BB-C3F9D0CC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9675"/>
            <a:ext cx="1381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708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7084"/>
                </a:solidFill>
                <a:latin typeface="Arial"/>
                <a:ea typeface="Arial"/>
                <a:cs typeface="Arial"/>
              </a:rPr>
              <a:t>50 cases per mode with the trained R64 W4 LiteRT model on GPU FP32</a:t>
            </a:r>
          </a:p>
        </p:txBody>
      </p:sp>
      <p:sp>
        <p:nvSpPr>
          <p:cNvPr id="3" name="quality-heading">
            <a:extLst xmlns:a="http://schemas.openxmlformats.org/drawingml/2006/main">
              <a:ext uri="{FF2B5EF4-FFF2-40B4-BE49-F238E27FC236}">
                <a16:creationId xmlns:a16="http://schemas.microsoft.com/office/drawing/2014/main" id="{4F1BDE78-4EDC-494C-83AA-9426A18C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24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243B"/>
                </a:solidFill>
                <a:latin typeface="Arial"/>
                <a:ea typeface="Arial"/>
                <a:cs typeface="Arial"/>
              </a:rPr>
              <a:t>UI representation quality</a:t>
            </a:r>
          </a:p>
        </p:txBody>
      </p:sp>
      <p:sp>
        <p:nvSpPr>
          <p:cNvPr id="4" name="quality-unit">
            <a:extLst xmlns:a="http://schemas.openxmlformats.org/drawingml/2006/main">
              <a:ext uri="{FF2B5EF4-FFF2-40B4-BE49-F238E27FC236}">
                <a16:creationId xmlns:a16="http://schemas.microsoft.com/office/drawing/2014/main" id="{EC03BB4E-1E60-4C23-8545-3CE90492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08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084"/>
                </a:solidFill>
                <a:latin typeface="Arial"/>
                <a:ea typeface="Arial"/>
                <a:cs typeface="Arial"/>
              </a:rPr>
              <a:t>v5.4 score /100, LiteRT results after SDK repair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90550" y="2857500"/>
          <a:ext xmlns:a="http://schemas.openxmlformats.org/drawingml/2006/main" cx="6705600" cy="3495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55c2c3a5984be4"/>
          </a:graphicData>
        </a:graphic>
      </p:graphicFrame>
      <p:sp>
        <p:nvSpPr>
          <p:cNvPr id="6" name="latency-heading">
            <a:extLst xmlns:a="http://schemas.openxmlformats.org/drawingml/2006/main">
              <a:ext uri="{FF2B5EF4-FFF2-40B4-BE49-F238E27FC236}">
                <a16:creationId xmlns:a16="http://schemas.microsoft.com/office/drawing/2014/main" id="{C9C95E00-7AAC-4970-BBCC-5949EBBE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81200"/>
            <a:ext cx="664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24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243B"/>
                </a:solidFill>
                <a:latin typeface="Arial"/>
                <a:ea typeface="Arial"/>
                <a:cs typeface="Arial"/>
              </a:rPr>
              <a:t>Conversion KPIs</a:t>
            </a:r>
          </a:p>
        </p:txBody>
      </p:sp>
      <p:sp>
        <p:nvSpPr>
          <p:cNvPr id="7" name="latency-subtitle">
            <a:extLst xmlns:a="http://schemas.openxmlformats.org/drawingml/2006/main">
              <a:ext uri="{FF2B5EF4-FFF2-40B4-BE49-F238E27FC236}">
                <a16:creationId xmlns:a16="http://schemas.microsoft.com/office/drawing/2014/main" id="{BE47F424-5F8A-4C34-B203-36440D44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098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08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084"/>
                </a:solidFill>
                <a:latin typeface="Arial"/>
                <a:ea typeface="Arial"/>
                <a:cs typeface="Arial"/>
              </a:rPr>
              <a:t>Estimated latency with the model already loaded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7905750" y="2867025"/>
          <a:ext xmlns:a="http://schemas.openxmlformats.org/drawingml/2006/main" cx="6648450" cy="348615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/>
              <a:tblGrid>
                <a:gridCol w="3295650"/>
                <a:gridCol w="1676400"/>
                <a:gridCol w="1676400"/>
              </a:tblGrid>
              <a:tr h="469900">
                <a:tc>
                  <a:txBody>
                    <a:bodyPr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5243B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35BDC"/>
                          </a:solidFill>
                          <a:latin typeface="Arial"/>
                          <a:ea typeface="Arial"/>
                          <a:cs typeface="Arial"/>
                        </a:rPr>
                        <a:t>MTP off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007F83"/>
                          </a:solidFill>
                          <a:latin typeface="Arial"/>
                          <a:ea typeface="Arial"/>
                          <a:cs typeface="Arial"/>
                        </a:rPr>
                        <a:t>MTP 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5243B"/>
                          </a:solidFill>
                          <a:latin typeface="Arial"/>
                          <a:ea typeface="Arial"/>
                          <a:cs typeface="Arial"/>
                        </a:rPr>
                        <a:t>Decode speed (tokens/s)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35BDC"/>
                          </a:solidFill>
                          <a:latin typeface="Arial"/>
                          <a:ea typeface="Arial"/>
                          <a:cs typeface="Arial"/>
                        </a:rPr>
                        <a:t>35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7F83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5243B"/>
                          </a:solidFill>
                          <a:latin typeface="Arial"/>
                          <a:ea typeface="Arial"/>
                          <a:cs typeface="Arial"/>
                        </a:rPr>
                        <a:t>Average output tokens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35BDC"/>
                          </a:solidFill>
                          <a:latin typeface="Arial"/>
                          <a:ea typeface="Arial"/>
                          <a:cs typeface="Arial"/>
                        </a:rPr>
                        <a:t>615.42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7F83"/>
                          </a:solidFill>
                          <a:latin typeface="Arial"/>
                          <a:ea typeface="Arial"/>
                          <a:cs typeface="Arial"/>
                        </a:rPr>
                        <a:t>568.70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5243B"/>
                          </a:solidFill>
                          <a:latin typeface="Arial"/>
                          <a:ea typeface="Arial"/>
                          <a:cs typeface="Arial"/>
                        </a:rPr>
                        <a:t>Decode time (s)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35BDC"/>
                          </a:solidFill>
                          <a:latin typeface="Arial"/>
                          <a:ea typeface="Arial"/>
                          <a:cs typeface="Arial"/>
                        </a:rPr>
                        <a:t>17.58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7F83"/>
                          </a:solidFill>
                          <a:latin typeface="Arial"/>
                          <a:ea typeface="Arial"/>
                          <a:cs typeface="Arial"/>
                        </a:rPr>
                        <a:t>10.94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5243B"/>
                          </a:solidFill>
                          <a:latin typeface="Arial"/>
                          <a:ea typeface="Arial"/>
                          <a:cs typeface="Arial"/>
                        </a:rPr>
                        <a:t>Prefill (s)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35BDC"/>
                          </a:solidFill>
                          <a:latin typeface="Arial"/>
                          <a:ea typeface="Arial"/>
                          <a:cs typeface="Arial"/>
                        </a:rPr>
                        <a:t>2.10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7F83"/>
                          </a:solidFill>
                          <a:latin typeface="Arial"/>
                          <a:ea typeface="Arial"/>
                          <a:cs typeface="Arial"/>
                        </a:rPr>
                        <a:t>2.10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5243B"/>
                          </a:solidFill>
                          <a:latin typeface="Arial"/>
                          <a:ea typeface="Arial"/>
                          <a:cs typeface="Arial"/>
                        </a:rPr>
                        <a:t>Other overhead (s)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35BDC"/>
                          </a:solidFill>
                          <a:latin typeface="Arial"/>
                          <a:ea typeface="Arial"/>
                          <a:cs typeface="Arial"/>
                        </a:rPr>
                        <a:t>0.16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57150" rIns="95250" bIns="571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7F83"/>
                          </a:solidFill>
                          <a:latin typeface="Arial"/>
                          <a:ea typeface="Arial"/>
                          <a:cs typeface="Arial"/>
                        </a:rPr>
                        <a:t>0.15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57150" rIns="95250" bIns="5715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5243B"/>
                          </a:solidFill>
                          <a:latin typeface="Arial"/>
                          <a:ea typeface="Arial"/>
                          <a:cs typeface="Arial"/>
                        </a:rPr>
                        <a:t>Total latency (s)</a:t>
                      </a:r>
                    </a:p>
                  </a:txBody>
                  <a:tcPr marL="91440" marR="91440" marT="45720" marB="45720" anchor="ctr">
                    <a:solidFill>
                      <a:srgbClr val="EEF8F7"/>
                    </a:solidFill>
                  </a:tcPr>
                </a:tc>
                <a:tc>
                  <a:txBody>
                    <a:bodyPr lIns="95250" tIns="57150" rIns="95250" bIns="57150">
                      <a:noAutofit/>
                    </a:bodyPr>
                    <a:lstStyle/>
                    <a:p>
                      <a:pPr algn="ctr"/>
                      <a:r>
                        <a:rPr sz="2850" b="1">
                          <a:solidFill>
                            <a:srgbClr val="235BDC"/>
                          </a:solidFill>
                          <a:latin typeface="Arial"/>
                          <a:ea typeface="Arial"/>
                          <a:cs typeface="Arial"/>
                        </a:rPr>
                        <a:t>19.84</a:t>
                      </a:r>
                    </a:p>
                  </a:txBody>
                  <a:tcPr marL="91440" marR="91440" marT="45720" marB="45720" anchor="ctr">
                    <a:solidFill>
                      <a:srgbClr val="EEF8F7"/>
                    </a:solidFill>
                  </a:tcPr>
                </a:tc>
                <a:tc>
                  <a:txBody>
                    <a:bodyPr lIns="95250" tIns="57150" rIns="95250" bIns="57150">
                      <a:noAutofit/>
                    </a:bodyPr>
                    <a:lstStyle/>
                    <a:p>
                      <a:pPr algn="ctr"/>
                      <a:r>
                        <a:rPr sz="2850" b="1">
                          <a:solidFill>
                            <a:srgbClr val="007F83"/>
                          </a:solidFill>
                          <a:latin typeface="Arial"/>
                          <a:ea typeface="Arial"/>
                          <a:cs typeface="Arial"/>
                        </a:rPr>
                        <a:t>13.19</a:t>
                      </a:r>
                    </a:p>
                  </a:txBody>
                  <a:tcPr marL="91440" marR="91440" marT="45720" marB="45720" anchor="ctr">
                    <a:solidFill>
                      <a:srgbClr val="EEF8F7"/>
                    </a:solidFill>
                  </a:tcPr>
                </a:tc>
              </a:tr>
            </a:tbl>
          </a:graphicData>
        </a:graphic>
      </p:graphicFrame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D1329C52-C191-4824-A61C-D336F17A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34175"/>
            <a:ext cx="1381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24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43B"/>
                </a:solidFill>
                <a:latin typeface="Arial"/>
                <a:ea typeface="Arial"/>
                <a:cs typeface="Arial"/>
              </a:rPr>
              <a:t>1.49× decode throughput with MTP, with a 2.37-point lower quality score</a:t>
            </a:r>
          </a:p>
        </p:txBody>
      </p:sp>
      <p:sp>
        <p:nvSpPr>
          <p:cNvPr id="10" name="assumptions">
            <a:extLst xmlns:a="http://schemas.openxmlformats.org/drawingml/2006/main">
              <a:ext uri="{FF2B5EF4-FFF2-40B4-BE49-F238E27FC236}">
                <a16:creationId xmlns:a16="http://schemas.microsoft.com/office/drawing/2014/main" id="{3FA7B202-C9CF-4511-AB58-FA3E1349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34275"/>
            <a:ext cx="1381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084"/>
                </a:solidFill>
                <a:latin typeface="Arial"/>
                <a:ea typeface="Arial"/>
                <a:cs typeface="Arial"/>
              </a:rPr>
              <a:t>Supplied: FP32 score 85.90 and decode speeds 35/52 tokens/s. Assumed prefill: 2.10 s.</a:t>
            </a:r>
          </a:p>
        </p:txBody>
      </p:sp>
      <p:sp>
        <p:nvSpPr>
          <p:cNvPr id="11" name="scope">
            <a:extLst xmlns:a="http://schemas.openxmlformats.org/drawingml/2006/main">
              <a:ext uri="{FF2B5EF4-FFF2-40B4-BE49-F238E27FC236}">
                <a16:creationId xmlns:a16="http://schemas.microsoft.com/office/drawing/2014/main" id="{8D9F6B4C-AA1B-48AE-BF35-A2747715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86700"/>
            <a:ext cx="1381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084"/>
                </a:solidFill>
                <a:latin typeface="Arial"/>
                <a:ea typeface="Arial"/>
                <a:cs typeface="Arial"/>
              </a:rPr>
              <a:t>All-50 averages include stopped attempts. Estimates exclude Perplexity generation and UI rendering.</a:t>
            </a:r>
          </a:p>
        </p:txBody>
      </p:sp>
    </p:spTree>
    <p:extLst>
      <p:ext uri="{BB962C8B-B14F-4D97-AF65-F5344CB8AC3E}">
        <p14:creationId xmlns:p14="http://schemas.microsoft.com/office/powerpoint/2010/main" val="466889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2026-09-29T18:35:56.2080000Z</dcterms:created>
  <dcterms:modified xsi:type="dcterms:W3CDTF">2026-09-29T18:35:56.2080000Z</dcterms:modified>
</coreProperties>
</file>