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0a737035314054" /><Relationship Type="http://schemas.openxmlformats.org/officeDocument/2006/relationships/extended-properties" Target="/docProps/app.xml" Id="R247111dba24a4819" /><Relationship Type="http://schemas.openxmlformats.org/officeDocument/2006/relationships/officeDocument" Target="/ppt/presentation.xml" Id="R70aea215c29a44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40962c5e6c4c0b"/>
  </p:sldMasterIdLst>
  <p:notesMasterIdLst>
    <p:notesMasterId xmlns:r="http://schemas.openxmlformats.org/officeDocument/2006/relationships" r:id="Rebf7e91373a44079"/>
  </p:notesMasterIdLst>
  <p:sldIdLst>
    <p:sldId xmlns:r="http://schemas.openxmlformats.org/officeDocument/2006/relationships" id="256" r:id="R4f537ff63569456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0962c5e6c4c0b" /><Relationship Type="http://schemas.openxmlformats.org/officeDocument/2006/relationships/theme" Target="/ppt/theme/theme1.xml" Id="Rfabf53ad471641e4" /><Relationship Type="http://schemas.openxmlformats.org/officeDocument/2006/relationships/notesMaster" Target="/ppt/notesMasters/notesMaster1.xml" Id="Rebf7e91373a44079" /><Relationship Type="http://schemas.openxmlformats.org/officeDocument/2006/relationships/presProps" Target="/ppt/presProps.xml" Id="R90426e38698046e9" /><Relationship Type="http://schemas.openxmlformats.org/officeDocument/2006/relationships/viewProps" Target="/ppt/viewProps.xml" Id="R157f3004a53a4976" /><Relationship Type="http://schemas.openxmlformats.org/officeDocument/2006/relationships/tableStyles" Target="/ppt/tableStyles.xml" Id="R70fab9b00af74e31" /><Relationship Type="http://schemas.openxmlformats.org/officeDocument/2006/relationships/slide" Target="/ppt/slides/slide1.xml" Id="R4f537ff6356945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78790d9992e45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71fc76b2494206" /><Relationship Type="http://schemas.openxmlformats.org/officeDocument/2006/relationships/notesMaster" Target="/ppt/notesMasters/notesMaster1.xml" Id="R79f3fd9b848e4b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2ec10dfde48a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4bdab39a8f541ae" /><Relationship Type="http://schemas.openxmlformats.org/officeDocument/2006/relationships/slideLayout" Target="/ppt/slideLayouts/slideLayout2.xml" Id="Rc41e89b1a0c84a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1e89b1a0c8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5b2fca26794faf" /><Relationship Type="http://schemas.openxmlformats.org/officeDocument/2006/relationships/image" Target="/ppt/media/image.png" Id="Rf83b50f360604107" /><Relationship Type="http://schemas.openxmlformats.org/officeDocument/2006/relationships/notesSlide" Target="/ppt/notesSlides/notesSlide1.xml" Id="R0a503382220d44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field">
            <a:extLst xmlns:a="http://schemas.openxmlformats.org/drawingml/2006/main">
              <a:ext uri="{FF2B5EF4-FFF2-40B4-BE49-F238E27FC236}">
                <a16:creationId xmlns:a16="http://schemas.microsoft.com/office/drawing/2014/main" id="{42180966-1D45-4BEB-A9DA-2B94A4A6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E0F1ABA-67A9-4D8B-8A01-8A22A9D2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FF5AB8-9521-44E7-ADBA-D48E623F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8FAFC"/>
                </a:solidFill>
              </a:defRPr>
            </a:pPr>
            <a:r>
              <a:rPr sz="4200" b="1">
                <a:solidFill>
                  <a:srgbClr val="F8FAFC"/>
                </a:solidFill>
              </a:rPr>
              <a:t>GenUICraft FlatSpec IR: data model + UI graph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027318-2E33-4E75-9B89-5219844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628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AAB7CA"/>
                </a:solidFill>
              </a:defRPr>
            </a:pPr>
            <a:r>
              <a:rPr sz="1875">
                <a:solidFill>
                  <a:srgbClr val="AAB7CA"/>
                </a:solidFill>
              </a:rPr>
              <a:t>Kyoto response -&gt; FlatSpec JSON -&gt; OneUI-native Android render.</a:t>
            </a:r>
          </a:p>
        </p:txBody>
      </p:sp>
      <p:sp>
        <p:nvSpPr>
          <p:cNvPr id="5" name="flow-Response">
            <a:extLst xmlns:a="http://schemas.openxmlformats.org/drawingml/2006/main">
              <a:ext uri="{FF2B5EF4-FFF2-40B4-BE49-F238E27FC236}">
                <a16:creationId xmlns:a16="http://schemas.microsoft.com/office/drawing/2014/main" id="{5A931194-1B76-461B-A068-1D3838D8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472116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14288">
            <a:solidFill>
              <a:srgbClr val="FBBF24"/>
            </a:solidFill>
            <a:prstDash val="solid"/>
          </a:ln>
        </p:spPr>
      </p:sp>
      <p:sp>
        <p:nvSpPr>
          <p:cNvPr id="6" name="flow-title-Response">
            <a:extLst xmlns:a="http://schemas.openxmlformats.org/drawingml/2006/main">
              <a:ext uri="{FF2B5EF4-FFF2-40B4-BE49-F238E27FC236}">
                <a16:creationId xmlns:a16="http://schemas.microsoft.com/office/drawing/2014/main" id="{0C57FEAD-D158-45F2-AE15-0386AF70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BBF24"/>
                </a:solidFill>
              </a:defRPr>
            </a:pPr>
            <a:r>
              <a:rPr sz="2100" b="1">
                <a:solidFill>
                  <a:srgbClr val="FBBF24"/>
                </a:solidFill>
              </a:rPr>
              <a:t>Response</a:t>
            </a:r>
          </a:p>
        </p:txBody>
      </p:sp>
      <p:sp>
        <p:nvSpPr>
          <p:cNvPr id="7" name="flow-body-Response">
            <a:extLst xmlns:a="http://schemas.openxmlformats.org/drawingml/2006/main">
              <a:ext uri="{FF2B5EF4-FFF2-40B4-BE49-F238E27FC236}">
                <a16:creationId xmlns:a16="http://schemas.microsoft.com/office/drawing/2014/main" id="{7D287FC4-947A-4D9C-B389-EDBAABC7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057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AB7CA"/>
                </a:solidFill>
              </a:defRPr>
            </a:pPr>
            <a:r>
              <a:rPr sz="1500">
                <a:solidFill>
                  <a:srgbClr val="AAB7CA"/>
                </a:solidFill>
              </a:rPr>
              <a:t>Natural language itinerary, media, actions</a:t>
            </a:r>
          </a:p>
        </p:txBody>
      </p:sp>
      <p:sp>
        <p:nvSpPr>
          <p:cNvPr id="8" name="arrow-1">
            <a:extLst xmlns:a="http://schemas.openxmlformats.org/drawingml/2006/main">
              <a:ext uri="{FF2B5EF4-FFF2-40B4-BE49-F238E27FC236}">
                <a16:creationId xmlns:a16="http://schemas.microsoft.com/office/drawing/2014/main" id="{8C6AF170-5243-4D5E-9D6B-C28B75A3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AB7CA"/>
                </a:solidFill>
              </a:defRPr>
            </a:pPr>
            <a:r>
              <a:rPr sz="2700" b="1">
                <a:solidFill>
                  <a:srgbClr val="AAB7CA"/>
                </a:solidFill>
              </a:rPr>
              <a:t>-&gt;</a:t>
            </a:r>
          </a:p>
        </p:txBody>
      </p:sp>
      <p:sp>
        <p:nvSpPr>
          <p:cNvPr id="9" name="flow-FlatSpec">
            <a:extLst xmlns:a="http://schemas.openxmlformats.org/drawingml/2006/main">
              <a:ext uri="{FF2B5EF4-FFF2-40B4-BE49-F238E27FC236}">
                <a16:creationId xmlns:a16="http://schemas.microsoft.com/office/drawing/2014/main" id="{27E183C8-6167-4452-9A9F-031C2FDA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766" y="1809750"/>
            <a:ext cx="2472116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14288">
            <a:solidFill>
              <a:srgbClr val="38BDF8"/>
            </a:solidFill>
            <a:prstDash val="solid"/>
          </a:ln>
        </p:spPr>
      </p:sp>
      <p:sp>
        <p:nvSpPr>
          <p:cNvPr id="10" name="flow-title-FlatSpec">
            <a:extLst xmlns:a="http://schemas.openxmlformats.org/drawingml/2006/main">
              <a:ext uri="{FF2B5EF4-FFF2-40B4-BE49-F238E27FC236}">
                <a16:creationId xmlns:a16="http://schemas.microsoft.com/office/drawing/2014/main" id="{EEC0C471-0DB3-447E-AC7E-F1A5AC73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7170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FlatSpec</a:t>
            </a:r>
          </a:p>
        </p:txBody>
      </p:sp>
      <p:sp>
        <p:nvSpPr>
          <p:cNvPr id="11" name="flow-body-FlatSpec">
            <a:extLst xmlns:a="http://schemas.openxmlformats.org/drawingml/2006/main">
              <a:ext uri="{FF2B5EF4-FFF2-40B4-BE49-F238E27FC236}">
                <a16:creationId xmlns:a16="http://schemas.microsoft.com/office/drawing/2014/main" id="{ED7A5F17-8975-4576-87D1-C9F33AB8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1460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AB7CA"/>
                </a:solidFill>
              </a:defRPr>
            </a:pPr>
            <a:r>
              <a:rPr sz="1500">
                <a:solidFill>
                  <a:srgbClr val="AAB7CA"/>
                </a:solidFill>
              </a:rPr>
              <a:t>root + state + elements</a:t>
            </a:r>
          </a:p>
        </p:txBody>
      </p:sp>
      <p:sp>
        <p:nvSpPr>
          <p:cNvPr id="12" name="arrow-2">
            <a:extLst xmlns:a="http://schemas.openxmlformats.org/drawingml/2006/main">
              <a:ext uri="{FF2B5EF4-FFF2-40B4-BE49-F238E27FC236}">
                <a16:creationId xmlns:a16="http://schemas.microsoft.com/office/drawing/2014/main" id="{CF9C569C-FBB9-42E7-8660-2B6C51C9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AB7CA"/>
                </a:solidFill>
              </a:defRPr>
            </a:pPr>
            <a:r>
              <a:rPr sz="2700" b="1">
                <a:solidFill>
                  <a:srgbClr val="AAB7CA"/>
                </a:solidFill>
              </a:rPr>
              <a:t>-&gt;</a:t>
            </a:r>
          </a:p>
        </p:txBody>
      </p:sp>
      <p:sp>
        <p:nvSpPr>
          <p:cNvPr id="13" name="flow-OneUI">
            <a:extLst xmlns:a="http://schemas.openxmlformats.org/drawingml/2006/main">
              <a:ext uri="{FF2B5EF4-FFF2-40B4-BE49-F238E27FC236}">
                <a16:creationId xmlns:a16="http://schemas.microsoft.com/office/drawing/2014/main" id="{3C6DFC4B-91FF-4E58-8B60-2AF06249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582" y="1809750"/>
            <a:ext cx="2472116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4" name="flow-title-OneUI">
            <a:extLst xmlns:a="http://schemas.openxmlformats.org/drawingml/2006/main">
              <a:ext uri="{FF2B5EF4-FFF2-40B4-BE49-F238E27FC236}">
                <a16:creationId xmlns:a16="http://schemas.microsoft.com/office/drawing/2014/main" id="{D1AE5E96-6B5A-4719-B2A8-2357184D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7645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D399"/>
                </a:solidFill>
              </a:defRPr>
            </a:pPr>
            <a:r>
              <a:rPr sz="2100" b="1">
                <a:solidFill>
                  <a:srgbClr val="34D399"/>
                </a:solidFill>
              </a:rPr>
              <a:t>OneUI</a:t>
            </a:r>
          </a:p>
        </p:txBody>
      </p:sp>
      <p:sp>
        <p:nvSpPr>
          <p:cNvPr id="15" name="flow-body-OneUI">
            <a:extLst xmlns:a="http://schemas.openxmlformats.org/drawingml/2006/main">
              <a:ext uri="{FF2B5EF4-FFF2-40B4-BE49-F238E27FC236}">
                <a16:creationId xmlns:a16="http://schemas.microsoft.com/office/drawing/2014/main" id="{ABA6C9F9-61C1-47C4-AE67-C88F7548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2057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AB7CA"/>
                </a:solidFill>
              </a:defRPr>
            </a:pPr>
            <a:r>
              <a:rPr sz="1500">
                <a:solidFill>
                  <a:srgbClr val="AAB7CA"/>
                </a:solidFill>
              </a:rPr>
              <a:t>Renderer owns layout, style, actions</a:t>
            </a:r>
          </a:p>
        </p:txBody>
      </p:sp>
      <p:sp>
        <p:nvSpPr>
          <p:cNvPr id="16" name="pill-root">
            <a:extLst xmlns:a="http://schemas.openxmlformats.org/drawingml/2006/main">
              <a:ext uri="{FF2B5EF4-FFF2-40B4-BE49-F238E27FC236}">
                <a16:creationId xmlns:a16="http://schemas.microsoft.com/office/drawing/2014/main" id="{A6E3D449-B4EF-47BB-B48B-F8AAF35F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8711749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A3A52"/>
            </a:solidFill>
            <a:prstDash val="solid"/>
          </a:ln>
        </p:spPr>
      </p:sp>
      <p:sp>
        <p:nvSpPr>
          <p:cNvPr id="17" name="dot-root">
            <a:extLst xmlns:a="http://schemas.openxmlformats.org/drawingml/2006/main">
              <a:ext uri="{FF2B5EF4-FFF2-40B4-BE49-F238E27FC236}">
                <a16:creationId xmlns:a16="http://schemas.microsoft.com/office/drawing/2014/main" id="{ED4799D8-EE0F-47D7-98D5-F5373179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8" name="label-root">
            <a:extLst xmlns:a="http://schemas.openxmlformats.org/drawingml/2006/main">
              <a:ext uri="{FF2B5EF4-FFF2-40B4-BE49-F238E27FC236}">
                <a16:creationId xmlns:a16="http://schemas.microsoft.com/office/drawing/2014/main" id="{5E456782-35D7-48C5-A4D1-CA9385BF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AB7CA"/>
                </a:solidFill>
              </a:defRPr>
            </a:pPr>
            <a:r>
              <a:rPr sz="1650" b="1">
                <a:solidFill>
                  <a:srgbClr val="AAB7CA"/>
                </a:solidFill>
              </a:rPr>
              <a:t>root</a:t>
            </a:r>
          </a:p>
        </p:txBody>
      </p:sp>
      <p:sp>
        <p:nvSpPr>
          <p:cNvPr id="19" name="value-root">
            <a:extLst xmlns:a="http://schemas.openxmlformats.org/drawingml/2006/main">
              <a:ext uri="{FF2B5EF4-FFF2-40B4-BE49-F238E27FC236}">
                <a16:creationId xmlns:a16="http://schemas.microsoft.com/office/drawing/2014/main" id="{8142BE78-B298-4A55-B6E2-CBECFF99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3375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Entry point: kyoto_itinerary</a:t>
            </a:r>
          </a:p>
        </p:txBody>
      </p:sp>
      <p:sp>
        <p:nvSpPr>
          <p:cNvPr id="20" name="pill-state">
            <a:extLst xmlns:a="http://schemas.openxmlformats.org/drawingml/2006/main">
              <a:ext uri="{FF2B5EF4-FFF2-40B4-BE49-F238E27FC236}">
                <a16:creationId xmlns:a16="http://schemas.microsoft.com/office/drawing/2014/main" id="{8DA52889-8D34-4B26-91A3-770A51DB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8711749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A3A52"/>
            </a:solidFill>
            <a:prstDash val="solid"/>
          </a:ln>
        </p:spPr>
      </p:sp>
      <p:sp>
        <p:nvSpPr>
          <p:cNvPr id="21" name="dot-state">
            <a:extLst xmlns:a="http://schemas.openxmlformats.org/drawingml/2006/main">
              <a:ext uri="{FF2B5EF4-FFF2-40B4-BE49-F238E27FC236}">
                <a16:creationId xmlns:a16="http://schemas.microsoft.com/office/drawing/2014/main" id="{4D2E7BE8-549E-4AA7-B0B3-3641F847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22" name="label-state">
            <a:extLst xmlns:a="http://schemas.openxmlformats.org/drawingml/2006/main">
              <a:ext uri="{FF2B5EF4-FFF2-40B4-BE49-F238E27FC236}">
                <a16:creationId xmlns:a16="http://schemas.microsoft.com/office/drawing/2014/main" id="{702678B5-0A0E-470D-BFF1-8CEF1D13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AB7CA"/>
                </a:solidFill>
              </a:defRPr>
            </a:pPr>
            <a:r>
              <a:rPr sz="1650" b="1">
                <a:solidFill>
                  <a:srgbClr val="AAB7CA"/>
                </a:solidFill>
              </a:rPr>
              <a:t>state</a:t>
            </a:r>
          </a:p>
        </p:txBody>
      </p:sp>
      <p:sp>
        <p:nvSpPr>
          <p:cNvPr id="23" name="value-state">
            <a:extLst xmlns:a="http://schemas.openxmlformats.org/drawingml/2006/main">
              <a:ext uri="{FF2B5EF4-FFF2-40B4-BE49-F238E27FC236}">
                <a16:creationId xmlns:a16="http://schemas.microsoft.com/office/drawing/2014/main" id="{8CFD0232-9F3D-4683-857B-0D3B3BCA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4810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Reusable data: budgetRows, dayCards</a:t>
            </a:r>
          </a:p>
        </p:txBody>
      </p:sp>
      <p:sp>
        <p:nvSpPr>
          <p:cNvPr id="24" name="pill-elements">
            <a:extLst xmlns:a="http://schemas.openxmlformats.org/drawingml/2006/main">
              <a:ext uri="{FF2B5EF4-FFF2-40B4-BE49-F238E27FC236}">
                <a16:creationId xmlns:a16="http://schemas.microsoft.com/office/drawing/2014/main" id="{EF333264-154E-439B-AF02-AB0B9914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8711749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A3A52"/>
            </a:solidFill>
            <a:prstDash val="solid"/>
          </a:ln>
        </p:spPr>
      </p:sp>
      <p:sp>
        <p:nvSpPr>
          <p:cNvPr id="25" name="dot-elements">
            <a:extLst xmlns:a="http://schemas.openxmlformats.org/drawingml/2006/main">
              <a:ext uri="{FF2B5EF4-FFF2-40B4-BE49-F238E27FC236}">
                <a16:creationId xmlns:a16="http://schemas.microsoft.com/office/drawing/2014/main" id="{92F4A338-268D-48B8-B620-6FD96486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26" name="label-elements">
            <a:extLst xmlns:a="http://schemas.openxmlformats.org/drawingml/2006/main">
              <a:ext uri="{FF2B5EF4-FFF2-40B4-BE49-F238E27FC236}">
                <a16:creationId xmlns:a16="http://schemas.microsoft.com/office/drawing/2014/main" id="{7F64D423-19DF-4F1F-891E-64CE154A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AB7CA"/>
                </a:solidFill>
              </a:defRPr>
            </a:pPr>
            <a:r>
              <a:rPr sz="1650" b="1">
                <a:solidFill>
                  <a:srgbClr val="AAB7CA"/>
                </a:solidFill>
              </a:rPr>
              <a:t>elements</a:t>
            </a:r>
          </a:p>
        </p:txBody>
      </p:sp>
      <p:sp>
        <p:nvSpPr>
          <p:cNvPr id="27" name="value-elements">
            <a:extLst xmlns:a="http://schemas.openxmlformats.org/drawingml/2006/main">
              <a:ext uri="{FF2B5EF4-FFF2-40B4-BE49-F238E27FC236}">
                <a16:creationId xmlns:a16="http://schemas.microsoft.com/office/drawing/2014/main" id="{482DF38E-AAEF-442D-B10E-614DEF2E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6245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Flat component graph: Text, Table, Card, Image, Button</a:t>
            </a:r>
          </a:p>
        </p:txBody>
      </p:sp>
      <p:sp>
        <p:nvSpPr>
          <p:cNvPr id="28" name="pill-bindings">
            <a:extLst xmlns:a="http://schemas.openxmlformats.org/drawingml/2006/main">
              <a:ext uri="{FF2B5EF4-FFF2-40B4-BE49-F238E27FC236}">
                <a16:creationId xmlns:a16="http://schemas.microsoft.com/office/drawing/2014/main" id="{8ACD547F-7144-4137-9E1E-497DA6E3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8711749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A3A52"/>
            </a:solidFill>
            <a:prstDash val="solid"/>
          </a:ln>
        </p:spPr>
      </p:sp>
      <p:sp>
        <p:nvSpPr>
          <p:cNvPr id="29" name="dot-bindings">
            <a:extLst xmlns:a="http://schemas.openxmlformats.org/drawingml/2006/main">
              <a:ext uri="{FF2B5EF4-FFF2-40B4-BE49-F238E27FC236}">
                <a16:creationId xmlns:a16="http://schemas.microsoft.com/office/drawing/2014/main" id="{34E34496-CAF4-4865-8C94-03C1A5E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30" name="label-bindings">
            <a:extLst xmlns:a="http://schemas.openxmlformats.org/drawingml/2006/main">
              <a:ext uri="{FF2B5EF4-FFF2-40B4-BE49-F238E27FC236}">
                <a16:creationId xmlns:a16="http://schemas.microsoft.com/office/drawing/2014/main" id="{0F9B1B0D-1CEC-4583-A071-5A27A9FD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AB7CA"/>
                </a:solidFill>
              </a:defRPr>
            </a:pPr>
            <a:r>
              <a:rPr sz="1650" b="1">
                <a:solidFill>
                  <a:srgbClr val="AAB7CA"/>
                </a:solidFill>
              </a:rPr>
              <a:t>bindings</a:t>
            </a:r>
          </a:p>
        </p:txBody>
      </p:sp>
      <p:sp>
        <p:nvSpPr>
          <p:cNvPr id="31" name="value-bindings">
            <a:extLst xmlns:a="http://schemas.openxmlformats.org/drawingml/2006/main">
              <a:ext uri="{FF2B5EF4-FFF2-40B4-BE49-F238E27FC236}">
                <a16:creationId xmlns:a16="http://schemas.microsoft.com/office/drawing/2014/main" id="{433553CA-27D9-442D-B739-8C2437A2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7680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$item, repeat, statePath, openUrl</a:t>
            </a:r>
          </a:p>
        </p:txBody>
      </p:sp>
      <p:sp>
        <p:nvSpPr>
          <p:cNvPr id="32" name="code-panel">
            <a:extLst xmlns:a="http://schemas.openxmlformats.org/drawingml/2006/main">
              <a:ext uri="{FF2B5EF4-FFF2-40B4-BE49-F238E27FC236}">
                <a16:creationId xmlns:a16="http://schemas.microsoft.com/office/drawing/2014/main" id="{63CA4104-B870-4A1B-ADCD-613E7E63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8711749" cy="3590925"/>
          </a:xfrm>
          <a:prstGeom xmlns:a="http://schemas.openxmlformats.org/drawingml/2006/main" prst="roundRect">
            <a:avLst>
              <a:gd name="adj" fmla="val 3183"/>
            </a:avLst>
          </a:prstGeom>
          <a:solidFill xmlns:a="http://schemas.openxmlformats.org/drawingml/2006/main">
            <a:srgbClr val="07101C"/>
          </a:solidFill>
          <a:ln xmlns:a="http://schemas.openxmlformats.org/drawingml/2006/main" w="11430">
            <a:solidFill>
              <a:srgbClr val="2A3A52"/>
            </a:solidFill>
            <a:prstDash val="solid"/>
          </a:ln>
        </p:spPr>
      </p:sp>
      <p:sp>
        <p:nvSpPr>
          <p:cNvPr id="33" name="code-title">
            <a:extLst xmlns:a="http://schemas.openxmlformats.org/drawingml/2006/main">
              <a:ext uri="{FF2B5EF4-FFF2-40B4-BE49-F238E27FC236}">
                <a16:creationId xmlns:a16="http://schemas.microsoft.com/office/drawing/2014/main" id="{A3762872-92B3-49FE-B67B-B9DB3680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81650"/>
            <a:ext cx="824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Representative IR pattern</a:t>
            </a:r>
          </a:p>
        </p:txBody>
      </p:sp>
      <p:sp>
        <p:nvSpPr>
          <p:cNvPr id="34" name="code-rule">
            <a:extLst xmlns:a="http://schemas.openxmlformats.org/drawingml/2006/main">
              <a:ext uri="{FF2B5EF4-FFF2-40B4-BE49-F238E27FC236}">
                <a16:creationId xmlns:a16="http://schemas.microsoft.com/office/drawing/2014/main" id="{9773B31A-DABA-4577-A165-3E07A7E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824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52"/>
          </a:solidFill>
          <a:ln xmlns:a="http://schemas.openxmlformats.org/drawingml/2006/main" w="0">
            <a:solidFill>
              <a:srgbClr val="2A3A52"/>
            </a:solidFill>
            <a:prstDash val="solid"/>
          </a:ln>
        </p:spPr>
      </p:sp>
      <p:sp>
        <p:nvSpPr>
          <p:cNvPr id="35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FD8134AC-AA77-41D3-A995-CC29C41D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57900"/>
            <a:ext cx="8248650" cy="2362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{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"root": "kyoto_itinerary",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"state": {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  "budgetRows": [...],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  "dayCards": [{ "title": "...", "image": "...", "url": "..." }]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},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"elements": {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  "budgetTable": { "type": "Table",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    "props": { "statePath": "/budgetRows" }},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  "dayCardTemplate": { "type": "Card",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    "repeat": { "statePath": "/dayCards" }}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  }</a:t>
            </a:r>
          </a:p>
          <a:p xmlns:a="http://schemas.openxmlformats.org/drawingml/2006/main">
            <a:pPr>
              <a:defRPr sz="1425">
                <a:solidFill>
                  <a:srgbClr val="DDE7F6"/>
                </a:solidFill>
              </a:defRPr>
            </a:pPr>
            <a:r>
              <a:rPr sz="1425">
                <a:solidFill>
                  <a:srgbClr val="DDE7F6"/>
                </a:solidFill>
              </a:rPr>
              <a:t>}</a:t>
            </a:r>
          </a:p>
        </p:txBody>
      </p:sp>
      <p:sp>
        <p:nvSpPr>
          <p:cNvPr id="36" name="render-panel">
            <a:extLst xmlns:a="http://schemas.openxmlformats.org/drawingml/2006/main">
              <a:ext uri="{FF2B5EF4-FFF2-40B4-BE49-F238E27FC236}">
                <a16:creationId xmlns:a16="http://schemas.microsoft.com/office/drawing/2014/main" id="{0A52FCD7-DE02-43A7-8FA5-4A9C2E28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899" y="1800225"/>
            <a:ext cx="7633151" cy="7153275"/>
          </a:xfrm>
          <a:prstGeom xmlns:a="http://schemas.openxmlformats.org/drawingml/2006/main" prst="roundRect">
            <a:avLst>
              <a:gd name="adj" fmla="val 2130"/>
            </a:avLst>
          </a:prstGeom>
          <a:solidFill xmlns:a="http://schemas.openxmlformats.org/drawingml/2006/main">
            <a:srgbClr val="111A2A"/>
          </a:solidFill>
          <a:ln xmlns:a="http://schemas.openxmlformats.org/drawingml/2006/main" w="11430">
            <a:solidFill>
              <a:srgbClr val="2A3A52"/>
            </a:solidFill>
            <a:prstDash val="solid"/>
          </a:ln>
        </p:spPr>
      </p:sp>
      <p:sp>
        <p:nvSpPr>
          <p:cNvPr id="37" name="render-heading">
            <a:extLst xmlns:a="http://schemas.openxmlformats.org/drawingml/2006/main">
              <a:ext uri="{FF2B5EF4-FFF2-40B4-BE49-F238E27FC236}">
                <a16:creationId xmlns:a16="http://schemas.microsoft.com/office/drawing/2014/main" id="{8485CA97-750A-4C28-8F4E-50389AA0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19300"/>
            <a:ext cx="5505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Rendered Android surface</a:t>
            </a:r>
          </a:p>
        </p:txBody>
      </p:sp>
      <p:sp>
        <p:nvSpPr>
          <p:cNvPr id="38" name="sample-id">
            <a:extLst xmlns:a="http://schemas.openxmlformats.org/drawingml/2006/main">
              <a:ext uri="{FF2B5EF4-FFF2-40B4-BE49-F238E27FC236}">
                <a16:creationId xmlns:a16="http://schemas.microsoft.com/office/drawing/2014/main" id="{7A393675-8CBA-4A86-9522-3FB05FF2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0764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8BDF8"/>
                </a:solidFill>
              </a:defRPr>
            </a:pPr>
            <a:r>
              <a:rPr sz="1200">
                <a:solidFill>
                  <a:srgbClr val="38BDF8"/>
                </a:solidFill>
              </a:rPr>
              <a:t>08_u_000008_01</a:t>
            </a:r>
          </a:p>
        </p:txBody>
      </p:sp>
      <p:pic>
        <p:nvPicPr>
          <p:cNvPr id="39" name="kyoto-ren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b50f360604107"/>
          <a:stretch xmlns:a="http://schemas.openxmlformats.org/drawingml/2006/main"/>
        </p:blipFill>
        <p:spPr>
          <a:xfrm xmlns:a="http://schemas.openxmlformats.org/drawingml/2006/main">
            <a:off x="12645890" y="2428875"/>
            <a:ext cx="2165169" cy="6315075"/>
          </a:xfrm>
          <a:prstGeom xmlns:a="http://schemas.openxmlformats.org/drawingml/2006/main" prst="roundRect">
            <a:avLst>
              <a:gd name="adj" fmla="val 1810"/>
            </a:avLst>
          </a:prstGeom>
        </p:spPr>
      </p:pic>
      <p:sp>
        <p:nvSpPr>
          <p:cNvPr id="40" name="bottom-label">
            <a:extLst xmlns:a="http://schemas.openxmlformats.org/drawingml/2006/main">
              <a:ext uri="{FF2B5EF4-FFF2-40B4-BE49-F238E27FC236}">
                <a16:creationId xmlns:a16="http://schemas.microsoft.com/office/drawing/2014/main" id="{0355347F-72B3-4401-963D-3763AB25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916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8BDF8"/>
                </a:solidFill>
              </a:defRPr>
            </a:pPr>
            <a:r>
              <a:rPr sz="1650" b="1">
                <a:solidFill>
                  <a:srgbClr val="38BDF8"/>
                </a:solidFill>
              </a:rPr>
              <a:t>Why this matters</a:t>
            </a:r>
          </a:p>
        </p:txBody>
      </p:sp>
      <p:sp>
        <p:nvSpPr>
          <p:cNvPr id="41" name="bottom-proof">
            <a:extLst xmlns:a="http://schemas.openxmlformats.org/drawingml/2006/main">
              <a:ext uri="{FF2B5EF4-FFF2-40B4-BE49-F238E27FC236}">
                <a16:creationId xmlns:a16="http://schemas.microsoft.com/office/drawing/2014/main" id="{D47336E5-0F04-4B26-98F1-F780E8E0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277350"/>
            <a:ext cx="1459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AFC"/>
                </a:solidFill>
              </a:defRPr>
            </a:pPr>
            <a:r>
              <a:rPr sz="1725">
                <a:solidFill>
                  <a:srgbClr val="F8FAFC"/>
                </a:solidFill>
              </a:rPr>
              <a:t>No executable UI code. Compact state-driven tables/cards. Local validation and repair before render. Compose owns OneUI typography, spacing, cards, dark mode, and actions.</a:t>
            </a:r>
          </a:p>
        </p:txBody>
      </p:sp>
    </p:spTree>
    <p:extLst>
      <p:ext uri="{BB962C8B-B14F-4D97-AF65-F5344CB8AC3E}">
        <p14:creationId xmlns:p14="http://schemas.microsoft.com/office/powerpoint/2010/main" val="1832555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2026-04-28T03:46:01.0670000Z</dcterms:created>
  <dcterms:modified xsi:type="dcterms:W3CDTF">2026-04-28T03:46:01.0670000Z</dcterms:modified>
</coreProperties>
</file>